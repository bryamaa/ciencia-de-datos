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9ead9449-62d0-cb4f-905c-d126e3273b84}">
          <p14:sldIdLst>
            <p14:sldId id="256"/>
            <p14:sldId id="257"/>
          </p14:sldIdLst>
        </p14:section>
        <p14:section name="La herramienta" id="{10efad6a-0631-0128-2da4-b516b0b520d0}">
          <p14:sldIdLst>
            <p14:sldId id="258"/>
            <p14:sldId id="259"/>
            <p14:sldId id="260"/>
            <p14:sldId id="261"/>
            <p14:sldId id="262"/>
          </p14:sldIdLst>
        </p14:section>
        <p14:section name="Datos y método" id="{5ab1ecc2-e6b1-8f8f-0029-c7dc5c860918}">
          <p14:sldIdLst>
            <p14:sldId id="263"/>
            <p14:sldId id="264"/>
            <p14:sldId id="265"/>
            <p14:sldId id="266"/>
          </p14:sldIdLst>
        </p14:section>
        <p14:section name="Resultados" id="{d551bd21-1edf-2e98-1986-5a03402bdd82}">
          <p14:sldIdLst>
            <p14:sldId id="267"/>
            <p14:sldId id="268"/>
          </p14:sldIdLst>
        </p14:section>
        <p14:section name="Comparación y cierre" id="{0f363628-ea26-faaa-9d7d-5ba9c6c7262e}">
          <p14:sldIdLst>
            <p14:sldId id="269"/>
            <p14:sldId id="270"/>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A44"/>
                </a:solidFill>
                <a:latin typeface="+mn-lt"/>
              </a:defRPr>
            </a:pPr>
            <a:r>
              <a:rPr sz="1300" b="0" i="0" u="none" strike="noStrike">
                <a:solidFill>
                  <a:srgbClr val="1F2A44"/>
                </a:solidFill>
                <a:latin typeface="+mn-lt"/>
              </a:rPr>
              <a:t>F1 medio en validación cruzada (10 pliegues, solo entrenamiento)</a:t>
            </a:r>
          </a:p>
        </c:rich>
      </c:tx>
      <c:layout/>
      <c:overlay val="0"/>
    </c:title>
    <c:autoTitleDeleted val="0"/>
    <c:plotArea>
      <c:layout/>
      <c:barChart>
        <c:barDir val="bar"/>
        <c:grouping val="clustered"/>
        <c:varyColors val="0"/>
        <c:ser>
          <c:idx val="0"/>
          <c:order val="0"/>
          <c:tx>
            <c:strRef>
              <c:f>Sheet1!$B$1</c:f>
              <c:strCache>
                <c:ptCount val="1"/>
                <c:pt idx="0">
                  <c:v>F1 medio en validación cruzada</c:v>
                </c:pt>
              </c:strCache>
            </c:strRef>
          </c:tx>
          <c:spPr>
            <a:solidFill>
              <a:srgbClr val="C44E52"/>
            </a:solidFill>
            <a:effectLst/>
          </c:spPr>
          <c:invertIfNegative val="0"/>
          <c:dLbls>
            <c:numFmt formatCode="0.000"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dPt>
            <c:idx val="0"/>
            <c:invertIfNegative val="0"/>
            <c:bubble3D val="0"/>
            <c:spPr>
              <a:solidFill>
                <a:srgbClr val="C44E52"/>
              </a:solidFill>
              <a:effectLst/>
            </c:spPr>
          </c:dPt>
          <c:dPt>
            <c:idx val="1"/>
            <c:invertIfNegative val="0"/>
            <c:bubble3D val="0"/>
            <c:spPr>
              <a:solidFill>
                <a:srgbClr val="C44E52"/>
              </a:solidFill>
              <a:effectLst/>
            </c:spPr>
          </c:dPt>
          <c:dPt>
            <c:idx val="2"/>
            <c:invertIfNegative val="0"/>
            <c:bubble3D val="0"/>
            <c:spPr>
              <a:solidFill>
                <a:srgbClr val="C44E52"/>
              </a:solidFill>
              <a:effectLst/>
            </c:spPr>
          </c:dPt>
          <c:dPt>
            <c:idx val="3"/>
            <c:invertIfNegative val="0"/>
            <c:bubble3D val="0"/>
            <c:spPr>
              <a:solidFill>
                <a:srgbClr val="4C72B0"/>
              </a:solidFill>
              <a:effectLst/>
            </c:spPr>
          </c:dPt>
          <c:dPt>
            <c:idx val="4"/>
            <c:invertIfNegative val="0"/>
            <c:bubble3D val="0"/>
            <c:spPr>
              <a:solidFill>
                <a:srgbClr val="4C72B0"/>
              </a:solidFill>
              <a:effectLst/>
            </c:spPr>
          </c:dPt>
          <c:dPt>
            <c:idx val="5"/>
            <c:invertIfNegative val="0"/>
            <c:bubble3D val="0"/>
            <c:spPr>
              <a:solidFill>
                <a:srgbClr val="4C72B0"/>
              </a:solidFill>
              <a:effectLst/>
            </c:spPr>
          </c:dPt>
          <c:dPt>
            <c:idx val="6"/>
            <c:invertIfNegative val="0"/>
            <c:bubble3D val="0"/>
            <c:spPr>
              <a:solidFill>
                <a:srgbClr val="4C72B0"/>
              </a:solidFill>
              <a:effectLst/>
            </c:spPr>
          </c:dPt>
          <c:dPt>
            <c:idx val="7"/>
            <c:invertIfNegative val="0"/>
            <c:bubble3D val="0"/>
            <c:spPr>
              <a:solidFill>
                <a:srgbClr val="4C72B0"/>
              </a:solidFill>
              <a:effectLst/>
            </c:spPr>
          </c:dPt>
          <c:dPt>
            <c:idx val="8"/>
            <c:invertIfNegative val="0"/>
            <c:bubble3D val="0"/>
            <c:spPr>
              <a:solidFill>
                <a:srgbClr val="4C72B0"/>
              </a:solidFill>
              <a:effectLst/>
            </c:spPr>
          </c:dPt>
          <c:dPt>
            <c:idx val="9"/>
            <c:invertIfNegative val="0"/>
            <c:bubble3D val="0"/>
            <c:spPr>
              <a:solidFill>
                <a:srgbClr val="4C72B0"/>
              </a:solidFill>
              <a:effectLst/>
            </c:spPr>
          </c:dPt>
          <c:dPt>
            <c:idx val="10"/>
            <c:invertIfNegative val="0"/>
            <c:bubble3D val="0"/>
            <c:spPr>
              <a:solidFill>
                <a:srgbClr val="4C72B0"/>
              </a:solidFill>
              <a:effectLst/>
            </c:spPr>
          </c:dPt>
          <c:dPt>
            <c:idx val="11"/>
            <c:invertIfNegative val="0"/>
            <c:bubble3D val="0"/>
            <c:spPr>
              <a:solidFill>
                <a:srgbClr val="4C72B0"/>
              </a:solidFill>
              <a:effectLst/>
            </c:spPr>
          </c:dPt>
          <c:dPt>
            <c:idx val="12"/>
            <c:invertIfNegative val="0"/>
            <c:bubble3D val="0"/>
            <c:spPr>
              <a:solidFill>
                <a:srgbClr val="4C72B0"/>
              </a:solidFill>
              <a:effectLst/>
            </c:spPr>
          </c:dPt>
          <c:dPt>
            <c:idx val="13"/>
            <c:invertIfNegative val="0"/>
            <c:bubble3D val="0"/>
            <c:spPr>
              <a:solidFill>
                <a:srgbClr val="4C72B0"/>
              </a:solidFill>
              <a:effectLst/>
            </c:spPr>
          </c:dPt>
          <c:cat>
            <c:multiLvlStrRef>
              <c:f>Sheet1!$A$2:$A$15</c:f>
              <c:multiLvlStrCache>
                <c:ptCount val="14"/>
                <c:lvl>
                  <c:pt idx="0">
                    <c:v>Regresión logística</c:v>
                  </c:pt>
                  <c:pt idx="1">
                    <c:v>Análisis discriminante lineal</c:v>
                  </c:pt>
                  <c:pt idx="2">
                    <c:v>Naive Bayes</c:v>
                  </c:pt>
                  <c:pt idx="3">
                    <c:v>AdaBoost</c:v>
                  </c:pt>
                  <c:pt idx="4">
                    <c:v>QDA</c:v>
                  </c:pt>
                  <c:pt idx="5">
                    <c:v>LightGBM</c:v>
                  </c:pt>
                  <c:pt idx="6">
                    <c:v>Gradient Boosting</c:v>
                  </c:pt>
                  <c:pt idx="7">
                    <c:v>Ridge</c:v>
                  </c:pt>
                  <c:pt idx="8">
                    <c:v>Random Forest</c:v>
                  </c:pt>
                  <c:pt idx="9">
                    <c:v>Extra Trees</c:v>
                  </c:pt>
                  <c:pt idx="10">
                    <c:v>Árbol de decisión</c:v>
                  </c:pt>
                  <c:pt idx="11">
                    <c:v>KNN</c:v>
                  </c:pt>
                  <c:pt idx="12">
                    <c:v>SVM lineal</c:v>
                  </c:pt>
                  <c:pt idx="13">
                    <c:v>Dummy</c:v>
                  </c:pt>
                </c:lvl>
              </c:multiLvlStrCache>
            </c:multiLvlStrRef>
          </c:cat>
          <c:val>
            <c:numRef>
              <c:f>Sheet1!$B$2:$B$15</c:f>
              <c:numCache>
                <c:formatCode>General</c:formatCode>
                <c:ptCount val="14"/>
                <c:pt idx="0">
                  <c:v>0.5983</c:v>
                </c:pt>
                <c:pt idx="1">
                  <c:v>0.5975</c:v>
                </c:pt>
                <c:pt idx="2">
                  <c:v>0.5947</c:v>
                </c:pt>
                <c:pt idx="3">
                  <c:v>0.5849</c:v>
                </c:pt>
                <c:pt idx="4">
                  <c:v>0.5844</c:v>
                </c:pt>
                <c:pt idx="5">
                  <c:v>0.5796</c:v>
                </c:pt>
                <c:pt idx="6">
                  <c:v>0.5789</c:v>
                </c:pt>
                <c:pt idx="7">
                  <c:v>0.5787</c:v>
                </c:pt>
                <c:pt idx="8">
                  <c:v>0.5404</c:v>
                </c:pt>
                <c:pt idx="9">
                  <c:v>0.5279</c:v>
                </c:pt>
                <c:pt idx="10">
                  <c:v>0.499</c:v>
                </c:pt>
                <c:pt idx="11">
                  <c:v>0.4976</c:v>
                </c:pt>
                <c:pt idx="12">
                  <c:v>0.4817</c:v>
                </c:pt>
                <c:pt idx="13">
                  <c:v>0</c:v>
                </c:pt>
              </c:numCache>
            </c:numRef>
          </c:val>
        </c:ser>
        <c:dLbls>
          <c:numFmt formatCode="0.000"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0.7"/>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grupo. Tema: PyCaret, una herramienta AutoML de la etapa de modelado, aplicada a Telco Customer Churn y comparada con una regresión logística de scikit-learn. Roles: Bryam (PyCaret y coordinación), Marcos (datos, EDA y preprocesamiento), Daniel (regresión logística y comparación). La imagen es la curva ROC real de nuestro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churn es el abandono de clientes. En el dataset el 26,54 % abandona, así que accuracy no sirve como única métrica: por eso usamos F1 y ROC-AUC. La pregunta del trabajo es qué aporta un AutoML (PyCaret) frente a una regresión logística hecha a mano en scikit-learn, medido con F1, ROC-AUC y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PyCaret lo creó Moez Ali y se publicó en 2020; hoy lo mantiene una comunidad open source. En este trabajo usamos la versión estable 3.3.2, con licencia MIT. Ojo con la licencia de la rama 4.0, que según el README del repositorio es dual: el motor es MIT y el panel/servidor usa BUSL-1.1. Esa rama sigue en desarrollo (pre-lanzamientos) y no es compatible con el código de 3.x.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PyCaret interviene en cuatro etapas: preparación de datos (imputación y codificación en setup), modelado (compare_models y tune_model), evaluación (plot_model, predict_model) y despliegue (finalize_model, save_model). No interviene en la recolección. En nuestro trabajo la limpieza la hicimos nosotros (Marcos), PyCaret hizo el modelado (Bryam) y lo comparamos con scikit-learn (Daniel). No desplegamos ningún modelo. Fuente: documentación y ficha de investigación de PyCaret.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Conviene para prototipar rápido y construir una línea base, y es muy útil para estudiantes. No conviene si necesitas un preprocesamiento muy personalizado (la propia documentación dice que es opinionated con sus valores por defecto), si hay código legado en 3.x, o si los datos no son tabulares. Fuente: ficha de investigación de PyCaret (documentación oficial y FAQ).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Instalar es un pip install. En nuestro caso falló porque Colab usa Python 3.13 y PyCaret 3.3.2 solo soporta de 3.9 a 3.11. Lo resolvimos con un entorno aislado de Python 3.11 creado con uv. PyCaret 4.0 (pre-lanzamiento 4.0.0a8, se instala con --pre) soporta Python 3.11 a 3.13, pero no es estable ni compatible con 3.x, por eso usamos 3.3.2. Fuentes: notebook del grupo, pycaret.org (instalación y changelog).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cuatro llamadas de nuestro script pycaret_run.py. setup prepara el experimento; con test_data PyCaret usa ese conjunto como prueba y no hace otro split. compare_models entrena y compara con validación cruzada, ordenando por F1. tune_model hace una búsqueda aleatoria (10 candidatos por 10 pliegues = 100 ajustes). predict_model evalúa en el test. Fuente: notebook del grupo y documentación de PyCaret.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Hallazgos del EDA que hizo Marcos, todos salen de las salidas del notebook. Son asociaciones, no relaciones causales. El contrato mes a mes concentra el abandono; quienes se van tienen mucha menos antigüedad; la fibra óptica tiene más churn que DSL. Estas variables se retoman al interpretar los modelos.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limpieza es común a ambas herramientas. Verificamos que los 11 valores vacíos de TotalCharges eran todos de clientes con tenure 0 antes de imputarlos con 0. La tabla muestra que PyCaret y scikit-learn no preprocesan igual: PyCaret no escala por defecto y no balancea clases, aunque su tune_model terminó eligiendo class_weight balanced. Fuente: celdas del notebook y sus hiperparámetros guardados.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una sola línea PyCaret entrenó y comparó 14 modelos y los ordenó por F1. Ganó la regresión logística, pero LDA y Naive Bayes están a milésimas. La tabla solo muestra promedios, así que no podemos afirmar que uno sea mejor; solo tenemos la desviación del modelo ajustado (0,0281) como referencia. El Dummy muestra por qué accuracy engaña con clases desbalanceadas. Los valores son los de la salida de compare_models en el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Daniel construyó primero una regresión logística base (un solo fit) y luego una versión con GridSearchCV, para que la comparación con PyCaret sea más justa: misma validación cruzada de 10 pliegues estratificados, misma métrica (F1) y mismo conjunto de entrenamiento. La búsqueda probó 80 combinaciones por 10 pliegues, es decir 800 ajustes. Los números salen del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el resultado central. PyCaret tiene el F1 puntual más alto, pero por 0,003. Lo que importa es el intervalo de confianza de la diferencia: en las 8 diferencias calculadas incluye el cero, así que este test no puede separar los modelos. Eso no prueba que sean iguales, solo que no hay evidencia de diferencia. Con precisión de 0,50 y recall de 0,78 los modelos detectan casi 8 de cada 10 abandonos, pero solo la mitad de los marcados realmente se va. Cifras: salidas del notebook, sección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Cumplimos la promesa del EDA: contrato, fibra óptica y antigüedad aparecen en los modelos. Las dos listas de mayor valor absoluto comparten solo 4 variables, pero la diferencia se explica sobre todo por la codificación (en PyCaret las variables de dos categorías son una sola columna) y por la escala. Hubo una excepción que no podemos explicar del todo: PhoneService cambia de signo, y es redundante con MultipleLines. MonthlyCharges tiene coeficiente negativo aunque en el EDA quienes abandonan pagan más: las variables numéricas están muy correlacionadas, así que el signo no se interpreta por separado.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tiene tres criterios medidos en nuestro propio pipeline (marcados con un punto): F1, ROC-AUC y tiempo de cómputo. El tiempo de PyCaret incluye setup, comparar 14 modelos y ajustar el mejor; el de scikit-learn es un solo ajuste o 800 ajustes de la búsqueda, así que no son equivalentes y hay que decirlo. Cifras: sección 5 del notebook (218,00 s; 0,11 s; 85,43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Comparación bibliográfica con H2O AutoML, AutoGluon, TPOT y auto-sklearn, con los criterios de la rúbrica. Los datos salen de la documentación oficial y de los artículos citados (Erickson et al., 2020; LeDell y Poirier, 2020; Olson et al., 2016; Feurer et al., 2015). Solo PyCaret fue medido en nuestro pipeline; para las demás no inventamos cifras. Pendiente de verificar en la documentación: el soporte de auto-sklearn para Python 3.12 o superior. En PyCaret 4.0 el motor es MIT y el panel BUSL-1.1.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Ventajas, limitaciones y riesgos, con evidencia de nuestro propio trabajo: la instalación falló por la versión de Python, el tiempo fue de 218 s frente a 0,11 s, y los entornos de PyCaret y del notebook tuvieron versiones distintas de scikit-learn (1.4.2 y 1.6.1). Sobre sesgo: la ficha de investigación no encontró una función de equidad documentada en PyCaret 4.0, y eso es una ausencia en lo que revisamos, no una prueba de que no exista. Privacidad: usamos un dataset público.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publicado y verificable de uso exitoso de PyCaret en investigación médica. El artículo comparó 16 algoritmos en 5.672 personas de dos cohortes (NHS y HPFS). En los datos totales, la regresión logística tuvo exactitud de 0,7174, AUC de 0,7914 y F1 de 0,7160 (Tabla 6). Por sexo, el AUC de los mejores modelos fue de unos 0,77 en hombres y 0,79 en mujeres. Los autores concluyen que PyCaret simplificó el análisis pero las variables fenotípicas solas dan un poder predictivo moderado. Es un estudio observacional: no establece causalidad.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Primero, no hay diferencia demostrable entre PyCaret y la regresión logística en este dataset. Segundo, el AutoML eligió un modelo lineal, lo que sugiere que la relación con el churn es sencilla y coincide con el caso publicado. Tercero, el costo de PyCaret es tiempo, pero ahorra escribir código. Cuarto, las asociaciones con contrato y fibra óptica son las mismas en el EDA y en los dos modelos. Limitación: un solo dataset y un solo split de prueba de 1.409 clientes.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Referencias en formato APA 7, ordenadas alfabéticamente. Las fuentes de la tabla de comparación bibliográfica son los artículos de AutoGluon, H2O AutoML, TPOT y auto-sklearn. Para el caso real se abrió y se leyó el artículo de Gul et al. (2024). Pendiente antes de entregar: confirmar el año y la versión de las páginas web de PyCaret y revisar el formato APA con el profesor.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ULO">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6035040" cy="19202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640080" y="3429000"/>
            <a:ext cx="5852160" cy="91440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PyCaret (AutoML) · Ciencia de los Datos</a:t>
            </a:r>
            <a:endParaRPr lang="en-US" sz="10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PyCaret (AutoML) · Ciencia de los Datos</a:t>
            </a:r>
            <a:endParaRPr lang="en-US" sz="10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6035040" cy="1920240"/>
          </a:xfrm>
          <a:prstGeom prst="rect">
            <a:avLst/>
          </a:prstGeom>
          <a:noFill/>
          <a:ln/>
        </p:spPr>
        <p:txBody>
          <a:bodyPr wrap="square" lIns="0" tIns="0" rIns="0" bIns="0" rtlCol="0" anchor="t"/>
          <a:lstStyle/>
          <a:p>
            <a:pPr algn="l" indent="0" marL="0">
              <a:buNone/>
            </a:pPr>
            <a:r>
              <a:rPr lang="en-US" sz="4000" b="1" dirty="0">
                <a:solidFill>
                  <a:schemeClr val="bg1"/>
                </a:solidFill>
              </a:rPr>
              <a:t>PyCaret: AutoML para ciencia de datos</a:t>
            </a:r>
            <a:endParaRPr lang="en-US" sz="4000" dirty="0"/>
          </a:p>
        </p:txBody>
      </p:sp>
      <p:sp>
        <p:nvSpPr>
          <p:cNvPr id="3" name="Text 0"/>
          <p:cNvSpPr/>
          <p:nvPr>
            <p:ph idx="101" type="body" hasCustomPrompt="1"/>
          </p:nvPr>
        </p:nvSpPr>
        <p:spPr>
          <a:xfrm>
            <a:off x="640080" y="3429000"/>
            <a:ext cx="5852160" cy="914400"/>
          </a:xfrm>
          <a:prstGeom prst="rect">
            <a:avLst/>
          </a:prstGeom>
          <a:noFill/>
          <a:ln/>
        </p:spPr>
        <p:txBody>
          <a:bodyPr wrap="square" lIns="0" tIns="0" rIns="0" bIns="0" rtlCol="0" anchor="t"/>
          <a:lstStyle/>
          <a:p>
            <a:pPr algn="l" indent="0" marL="0">
              <a:buNone/>
            </a:pPr>
            <a:r>
              <a:rPr lang="en-US" sz="2000" dirty="0">
                <a:solidFill>
                  <a:schemeClr val="accent6"/>
                </a:solidFill>
              </a:rPr>
              <a:t>Caso aplicado: predicción de abandono de clientes (Telco Churn)</a:t>
            </a:r>
            <a:endParaRPr lang="en-US" sz="2000" dirty="0"/>
          </a:p>
        </p:txBody>
      </p:sp>
      <p:sp>
        <p:nvSpPr>
          <p:cNvPr id="4" name="integrante 1"/>
          <p:cNvSpPr txBox="1"/>
          <p:nvPr/>
        </p:nvSpPr>
        <p:spPr>
          <a:xfrm>
            <a:off x="640080" y="4526280"/>
            <a:ext cx="5852160" cy="502920"/>
          </a:xfrm>
          <a:prstGeom prst="rect">
            <a:avLst/>
          </a:prstGeom>
          <a:noFill/>
          <a:ln/>
        </p:spPr>
        <p:txBody>
          <a:bodyPr wrap="square" lIns="0" tIns="0" rIns="0" bIns="0" rtlCol="0" anchor="t"/>
          <a:lstStyle/>
          <a:p>
            <a:pPr indent="0" marL="0">
              <a:buNone/>
            </a:pPr>
            <a:r>
              <a:rPr lang="en-US" sz="1600" b="1" dirty="0">
                <a:solidFill>
                  <a:schemeClr val="bg1"/>
                </a:solidFill>
              </a:rPr>
              <a:t>Bryam Astudillo</a:t>
            </a:r>
            <a:endParaRPr lang="en-US" sz="1600" dirty="0"/>
          </a:p>
          <a:p>
            <a:pPr indent="0" marL="0">
              <a:buNone/>
            </a:pPr>
            <a:r>
              <a:rPr lang="en-US" sz="1300" dirty="0">
                <a:solidFill>
                  <a:schemeClr val="accent6"/>
                </a:solidFill>
              </a:rPr>
              <a:t>PyCaret y coordinación del pipeline</a:t>
            </a:r>
            <a:endParaRPr lang="en-US" sz="1600" dirty="0"/>
          </a:p>
        </p:txBody>
      </p:sp>
      <p:sp>
        <p:nvSpPr>
          <p:cNvPr id="5" name="integrante 2"/>
          <p:cNvSpPr txBox="1"/>
          <p:nvPr/>
        </p:nvSpPr>
        <p:spPr>
          <a:xfrm>
            <a:off x="640080" y="5093208"/>
            <a:ext cx="5852160" cy="502920"/>
          </a:xfrm>
          <a:prstGeom prst="rect">
            <a:avLst/>
          </a:prstGeom>
          <a:noFill/>
          <a:ln/>
        </p:spPr>
        <p:txBody>
          <a:bodyPr wrap="square" lIns="0" tIns="0" rIns="0" bIns="0" rtlCol="0" anchor="t"/>
          <a:lstStyle/>
          <a:p>
            <a:pPr indent="0" marL="0">
              <a:buNone/>
            </a:pPr>
            <a:r>
              <a:rPr lang="en-US" sz="1600" b="1" dirty="0">
                <a:solidFill>
                  <a:schemeClr val="bg1"/>
                </a:solidFill>
              </a:rPr>
              <a:t>Marcos Naranjo</a:t>
            </a:r>
            <a:endParaRPr lang="en-US" sz="1600" dirty="0"/>
          </a:p>
          <a:p>
            <a:pPr indent="0" marL="0">
              <a:buNone/>
            </a:pPr>
            <a:r>
              <a:rPr lang="en-US" sz="1300" dirty="0">
                <a:solidFill>
                  <a:schemeClr val="accent6"/>
                </a:solidFill>
              </a:rPr>
              <a:t>Datos, EDA y preprocesamiento</a:t>
            </a:r>
            <a:endParaRPr lang="en-US" sz="1600" dirty="0"/>
          </a:p>
        </p:txBody>
      </p:sp>
      <p:sp>
        <p:nvSpPr>
          <p:cNvPr id="6" name="integrante 3"/>
          <p:cNvSpPr txBox="1"/>
          <p:nvPr/>
        </p:nvSpPr>
        <p:spPr>
          <a:xfrm>
            <a:off x="640080" y="5660136"/>
            <a:ext cx="5852160" cy="502920"/>
          </a:xfrm>
          <a:prstGeom prst="rect">
            <a:avLst/>
          </a:prstGeom>
          <a:noFill/>
          <a:ln/>
        </p:spPr>
        <p:txBody>
          <a:bodyPr wrap="square" lIns="0" tIns="0" rIns="0" bIns="0" rtlCol="0" anchor="t"/>
          <a:lstStyle/>
          <a:p>
            <a:pPr indent="0" marL="0">
              <a:buNone/>
            </a:pPr>
            <a:r>
              <a:rPr lang="en-US" sz="1600" b="1" dirty="0">
                <a:solidFill>
                  <a:schemeClr val="bg1"/>
                </a:solidFill>
              </a:rPr>
              <a:t>Daniel Salcedo</a:t>
            </a:r>
            <a:endParaRPr lang="en-US" sz="1600" dirty="0"/>
          </a:p>
          <a:p>
            <a:pPr indent="0" marL="0">
              <a:buNone/>
            </a:pPr>
            <a:r>
              <a:rPr lang="en-US" sz="1300" dirty="0">
                <a:solidFill>
                  <a:schemeClr val="accent6"/>
                </a:solidFill>
              </a:rPr>
              <a:t>Regresión logística y comparación</a:t>
            </a:r>
            <a:endParaRPr lang="en-US" sz="1600" dirty="0"/>
          </a:p>
        </p:txBody>
      </p:sp>
      <p:sp>
        <p:nvSpPr>
          <p:cNvPr id="7" name="materia y profesor"/>
          <p:cNvSpPr txBox="1"/>
          <p:nvPr/>
        </p:nvSpPr>
        <p:spPr>
          <a:xfrm>
            <a:off x="640080" y="6263640"/>
            <a:ext cx="5852160" cy="274320"/>
          </a:xfrm>
          <a:prstGeom prst="rect">
            <a:avLst/>
          </a:prstGeom>
          <a:noFill/>
          <a:ln/>
        </p:spPr>
        <p:txBody>
          <a:bodyPr wrap="square" lIns="0" tIns="0" rIns="0" bIns="0" rtlCol="0" anchor="t"/>
          <a:lstStyle/>
          <a:p>
            <a:pPr indent="0" marL="0">
              <a:buNone/>
            </a:pPr>
            <a:r>
              <a:rPr lang="en-US" sz="1200" dirty="0">
                <a:solidFill>
                  <a:schemeClr val="accent6"/>
                </a:solidFill>
              </a:rPr>
              <a:t>Ciencia de los Datos · Prof. Ing. Jorge Maldonado</a:t>
            </a:r>
            <a:endParaRPr lang="en-US" sz="1200" dirty="0"/>
          </a:p>
        </p:txBody>
      </p:sp>
      <p:sp>
        <p:nvSpPr>
          <p:cNvPr id="8" name="marco de la curva ROC"/>
          <p:cNvSpPr/>
          <p:nvPr/>
        </p:nvSpPr>
        <p:spPr>
          <a:xfrm>
            <a:off x="7040880" y="1097280"/>
            <a:ext cx="4572000" cy="4206240"/>
          </a:xfrm>
          <a:prstGeom prst="roundRect">
            <a:avLst>
              <a:gd name="adj" fmla="val 2174"/>
            </a:avLst>
          </a:prstGeom>
          <a:solidFill>
            <a:schemeClr val="bg1"/>
          </a:solidFill>
          <a:ln/>
        </p:spPr>
      </p:sp>
      <p:pic>
        <p:nvPicPr>
          <p:cNvPr id="9" name="curva ROC" descr="Curvas ROC de los tres modelos sobre el conjunto de prueba: se superponen">    </p:cNvPr>
          <p:cNvPicPr>
            <a:picLocks noChangeAspect="1"/>
          </p:cNvPicPr>
          <p:nvPr/>
        </p:nvPicPr>
        <p:blipFill>
          <a:blip r:embed="rId1"/>
          <a:stretch>
            <a:fillRect/>
          </a:stretch>
        </p:blipFill>
        <p:spPr>
          <a:xfrm>
            <a:off x="7223760" y="1291842"/>
            <a:ext cx="4206240" cy="3542795"/>
          </a:xfrm>
          <a:prstGeom prst="rect">
            <a:avLst/>
          </a:prstGeom>
        </p:spPr>
      </p:pic>
      <p:sp>
        <p:nvSpPr>
          <p:cNvPr id="10" name="pie de la curva ROC"/>
          <p:cNvSpPr txBox="1"/>
          <p:nvPr/>
        </p:nvSpPr>
        <p:spPr>
          <a:xfrm>
            <a:off x="7223760" y="4800600"/>
            <a:ext cx="4206240" cy="411480"/>
          </a:xfrm>
          <a:prstGeom prst="rect">
            <a:avLst/>
          </a:prstGeom>
          <a:noFill/>
          <a:ln/>
        </p:spPr>
        <p:txBody>
          <a:bodyPr wrap="square" lIns="0" tIns="0" rIns="0" bIns="0" rtlCol="0" anchor="t"/>
          <a:lstStyle/>
          <a:p>
            <a:pPr algn="ctr" indent="0" marL="0">
              <a:buNone/>
            </a:pPr>
            <a:r>
              <a:rPr lang="en-US" sz="1200" dirty="0">
                <a:solidFill>
                  <a:schemeClr val="accent5"/>
                </a:solidFill>
              </a:rPr>
              <a:t>Curvas ROC de PyCaret y la regresión logística: se superponen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El problema: predecir quién abandonará el servicio</a:t>
            </a:r>
            <a:endParaRPr lang="en-US" sz="3000" dirty="0"/>
          </a:p>
        </p:txBody>
      </p:sp>
      <p:sp>
        <p:nvSpPr>
          <p:cNvPr id="3" name="tarjeta del dato principal"/>
          <p:cNvSpPr/>
          <p:nvPr/>
        </p:nvSpPr>
        <p:spPr>
          <a:xfrm>
            <a:off x="548640" y="1371600"/>
            <a:ext cx="3931920" cy="4754880"/>
          </a:xfrm>
          <a:prstGeom prst="roundRect">
            <a:avLst>
              <a:gd name="adj" fmla="val 2326"/>
            </a:avLst>
          </a:prstGeom>
          <a:solidFill>
            <a:schemeClr val="tx2"/>
          </a:solidFill>
          <a:ln/>
        </p:spPr>
      </p:sp>
      <p:sp>
        <p:nvSpPr>
          <p:cNvPr id="4" name="dato principal"/>
          <p:cNvSpPr txBox="1"/>
          <p:nvPr/>
        </p:nvSpPr>
        <p:spPr>
          <a:xfrm>
            <a:off x="822960" y="2011680"/>
            <a:ext cx="3383280" cy="1188720"/>
          </a:xfrm>
          <a:prstGeom prst="rect">
            <a:avLst/>
          </a:prstGeom>
          <a:noFill/>
          <a:ln/>
        </p:spPr>
        <p:txBody>
          <a:bodyPr wrap="square" lIns="0" tIns="0" rIns="0" bIns="0" rtlCol="0" anchor="t"/>
          <a:lstStyle/>
          <a:p>
            <a:pPr indent="0" marL="0">
              <a:buNone/>
            </a:pPr>
            <a:r>
              <a:rPr lang="en-US" sz="6600" b="1" dirty="0">
                <a:solidFill>
                  <a:schemeClr val="bg1"/>
                </a:solidFill>
                <a:latin typeface="Cambria" pitchFamily="34" charset="0"/>
                <a:ea typeface="Cambria" pitchFamily="34" charset="-122"/>
                <a:cs typeface="Cambria" pitchFamily="34" charset="-120"/>
              </a:rPr>
              <a:t>26,54 %</a:t>
            </a:r>
            <a:endParaRPr lang="en-US" sz="6600" dirty="0"/>
          </a:p>
        </p:txBody>
      </p:sp>
      <p:sp>
        <p:nvSpPr>
          <p:cNvPr id="5" name="explicación del dato"/>
          <p:cNvSpPr txBox="1"/>
          <p:nvPr/>
        </p:nvSpPr>
        <p:spPr>
          <a:xfrm>
            <a:off x="822960" y="3383280"/>
            <a:ext cx="3383280" cy="2377440"/>
          </a:xfrm>
          <a:prstGeom prst="rect">
            <a:avLst/>
          </a:prstGeom>
          <a:noFill/>
          <a:ln/>
        </p:spPr>
        <p:txBody>
          <a:bodyPr wrap="square" lIns="0" tIns="0" rIns="0" bIns="0" rtlCol="0" anchor="t"/>
          <a:lstStyle/>
          <a:p>
            <a:pPr indent="0" marL="0">
              <a:buNone/>
            </a:pPr>
            <a:r>
              <a:rPr lang="en-US" sz="1600" dirty="0">
                <a:solidFill>
                  <a:schemeClr val="bg1"/>
                </a:solidFill>
              </a:rPr>
              <a:t>de los 7.043 clientes abandona la empresa (churn). Es una clase minoritaria: un modelo que siempre responda “no abandona” acierta el 73,46 %, pero no detecta a nadie.</a:t>
            </a:r>
            <a:endParaRPr lang="en-US" sz="1600" dirty="0"/>
          </a:p>
        </p:txBody>
      </p:sp>
      <p:sp>
        <p:nvSpPr>
          <p:cNvPr id="6" name="icono Datos fondo"/>
          <p:cNvSpPr/>
          <p:nvPr/>
        </p:nvSpPr>
        <p:spPr>
          <a:xfrm>
            <a:off x="4937760" y="1463040"/>
            <a:ext cx="822960" cy="822960"/>
          </a:xfrm>
          <a:prstGeom prst="ellipse">
            <a:avLst/>
          </a:prstGeom>
          <a:solidFill>
            <a:schemeClr val="accent1"/>
          </a:solidFill>
          <a:ln/>
        </p:spPr>
      </p:sp>
      <p:pic>
        <p:nvPicPr>
          <p:cNvPr id="7" name="icono Datos" descr="icono Datos">    </p:cNvPr>
          <p:cNvPicPr>
            <a:picLocks noChangeAspect="1"/>
          </p:cNvPicPr>
          <p:nvPr/>
        </p:nvPicPr>
        <p:blipFill>
          <a:blip r:embed="rId1"/>
          <a:stretch>
            <a:fillRect/>
          </a:stretch>
        </p:blipFill>
        <p:spPr>
          <a:xfrm>
            <a:off x="5151730" y="1677010"/>
            <a:ext cx="395021" cy="395021"/>
          </a:xfrm>
          <a:prstGeom prst="rect">
            <a:avLst/>
          </a:prstGeom>
        </p:spPr>
      </p:pic>
      <p:sp>
        <p:nvSpPr>
          <p:cNvPr id="8" name="título Datos"/>
          <p:cNvSpPr txBox="1"/>
          <p:nvPr/>
        </p:nvSpPr>
        <p:spPr>
          <a:xfrm>
            <a:off x="6035040" y="1371600"/>
            <a:ext cx="557784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Datos</a:t>
            </a:r>
            <a:endParaRPr lang="en-US" sz="2000" dirty="0"/>
          </a:p>
        </p:txBody>
      </p:sp>
      <p:sp>
        <p:nvSpPr>
          <p:cNvPr id="9" name="texto Datos"/>
          <p:cNvSpPr txBox="1"/>
          <p:nvPr/>
        </p:nvSpPr>
        <p:spPr>
          <a:xfrm>
            <a:off x="6035040" y="1828800"/>
            <a:ext cx="5577840" cy="914400"/>
          </a:xfrm>
          <a:prstGeom prst="rect">
            <a:avLst/>
          </a:prstGeom>
          <a:noFill/>
          <a:ln/>
        </p:spPr>
        <p:txBody>
          <a:bodyPr wrap="square" lIns="0" tIns="0" rIns="0" bIns="0" rtlCol="0" anchor="t"/>
          <a:lstStyle/>
          <a:p>
            <a:pPr indent="0" marL="0">
              <a:buNone/>
            </a:pPr>
            <a:r>
              <a:rPr lang="en-US" sz="1600" dirty="0">
                <a:solidFill>
                  <a:schemeClr val="tx1"/>
                </a:solidFill>
              </a:rPr>
              <a:t>Telco Customer Churn (IBM, publicado en Kaggle): 7.043 clientes y 21 columnas.</a:t>
            </a:r>
            <a:endParaRPr lang="en-US" sz="1600" dirty="0"/>
          </a:p>
        </p:txBody>
      </p:sp>
      <p:sp>
        <p:nvSpPr>
          <p:cNvPr id="10" name="icono Pregunta fondo"/>
          <p:cNvSpPr/>
          <p:nvPr/>
        </p:nvSpPr>
        <p:spPr>
          <a:xfrm>
            <a:off x="4937760" y="3108960"/>
            <a:ext cx="822960" cy="822960"/>
          </a:xfrm>
          <a:prstGeom prst="ellipse">
            <a:avLst/>
          </a:prstGeom>
          <a:solidFill>
            <a:schemeClr val="accent1"/>
          </a:solidFill>
          <a:ln/>
        </p:spPr>
      </p:sp>
      <p:pic>
        <p:nvPicPr>
          <p:cNvPr id="11" name="icono Pregunta" descr="icono Pregunta">    </p:cNvPr>
          <p:cNvPicPr>
            <a:picLocks noChangeAspect="1"/>
          </p:cNvPicPr>
          <p:nvPr/>
        </p:nvPicPr>
        <p:blipFill>
          <a:blip r:embed="rId2"/>
          <a:stretch>
            <a:fillRect/>
          </a:stretch>
        </p:blipFill>
        <p:spPr>
          <a:xfrm>
            <a:off x="5151730" y="3322930"/>
            <a:ext cx="395021" cy="395021"/>
          </a:xfrm>
          <a:prstGeom prst="rect">
            <a:avLst/>
          </a:prstGeom>
        </p:spPr>
      </p:pic>
      <p:sp>
        <p:nvSpPr>
          <p:cNvPr id="12" name="título Pregunta"/>
          <p:cNvSpPr txBox="1"/>
          <p:nvPr/>
        </p:nvSpPr>
        <p:spPr>
          <a:xfrm>
            <a:off x="6035040" y="3017520"/>
            <a:ext cx="557784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Pregunta</a:t>
            </a:r>
            <a:endParaRPr lang="en-US" sz="2000" dirty="0"/>
          </a:p>
        </p:txBody>
      </p:sp>
      <p:sp>
        <p:nvSpPr>
          <p:cNvPr id="13" name="texto Pregunta"/>
          <p:cNvSpPr txBox="1"/>
          <p:nvPr/>
        </p:nvSpPr>
        <p:spPr>
          <a:xfrm>
            <a:off x="6035040" y="3474720"/>
            <a:ext cx="5577840" cy="914400"/>
          </a:xfrm>
          <a:prstGeom prst="rect">
            <a:avLst/>
          </a:prstGeom>
          <a:noFill/>
          <a:ln/>
        </p:spPr>
        <p:txBody>
          <a:bodyPr wrap="square" lIns="0" tIns="0" rIns="0" bIns="0" rtlCol="0" anchor="t"/>
          <a:lstStyle/>
          <a:p>
            <a:pPr indent="0" marL="0">
              <a:buNone/>
            </a:pPr>
            <a:r>
              <a:rPr lang="en-US" sz="1600" dirty="0">
                <a:solidFill>
                  <a:schemeClr val="tx1"/>
                </a:solidFill>
              </a:rPr>
              <a:t>¿Qué aporta una herramienta AutoML frente a un modelo hecho a mano?</a:t>
            </a:r>
            <a:endParaRPr lang="en-US" sz="1600" dirty="0"/>
          </a:p>
        </p:txBody>
      </p:sp>
      <p:sp>
        <p:nvSpPr>
          <p:cNvPr id="14" name="icono Cómo lo medimos fondo"/>
          <p:cNvSpPr/>
          <p:nvPr/>
        </p:nvSpPr>
        <p:spPr>
          <a:xfrm>
            <a:off x="4937760" y="4754880"/>
            <a:ext cx="822960" cy="822960"/>
          </a:xfrm>
          <a:prstGeom prst="ellipse">
            <a:avLst/>
          </a:prstGeom>
          <a:solidFill>
            <a:schemeClr val="accent1"/>
          </a:solidFill>
          <a:ln/>
        </p:spPr>
      </p:sp>
      <p:pic>
        <p:nvPicPr>
          <p:cNvPr id="15" name="icono Cómo lo medimos" descr="icono Cómo lo medimos">    </p:cNvPr>
          <p:cNvPicPr>
            <a:picLocks noChangeAspect="1"/>
          </p:cNvPicPr>
          <p:nvPr/>
        </p:nvPicPr>
        <p:blipFill>
          <a:blip r:embed="rId3"/>
          <a:stretch>
            <a:fillRect/>
          </a:stretch>
        </p:blipFill>
        <p:spPr>
          <a:xfrm>
            <a:off x="5151730" y="4968850"/>
            <a:ext cx="395021" cy="395021"/>
          </a:xfrm>
          <a:prstGeom prst="rect">
            <a:avLst/>
          </a:prstGeom>
        </p:spPr>
      </p:pic>
      <p:sp>
        <p:nvSpPr>
          <p:cNvPr id="16" name="título Cómo lo medimos"/>
          <p:cNvSpPr txBox="1"/>
          <p:nvPr/>
        </p:nvSpPr>
        <p:spPr>
          <a:xfrm>
            <a:off x="6035040" y="4663440"/>
            <a:ext cx="557784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Cómo lo medimos</a:t>
            </a:r>
            <a:endParaRPr lang="en-US" sz="2000" dirty="0"/>
          </a:p>
        </p:txBody>
      </p:sp>
      <p:sp>
        <p:nvSpPr>
          <p:cNvPr id="17" name="texto Cómo lo medimos"/>
          <p:cNvSpPr txBox="1"/>
          <p:nvPr/>
        </p:nvSpPr>
        <p:spPr>
          <a:xfrm>
            <a:off x="6035040" y="5120640"/>
            <a:ext cx="5577840" cy="914400"/>
          </a:xfrm>
          <a:prstGeom prst="rect">
            <a:avLst/>
          </a:prstGeom>
          <a:noFill/>
          <a:ln/>
        </p:spPr>
        <p:txBody>
          <a:bodyPr wrap="square" lIns="0" tIns="0" rIns="0" bIns="0" rtlCol="0" anchor="t"/>
          <a:lstStyle/>
          <a:p>
            <a:pPr indent="0" marL="0">
              <a:buNone/>
            </a:pPr>
            <a:r>
              <a:rPr lang="en-US" sz="1600" dirty="0">
                <a:solidFill>
                  <a:schemeClr val="tx1"/>
                </a:solidFill>
              </a:rPr>
              <a:t>F1-score, ROC-AUC y tiempo de cómputo, con el mismo split 80/20 (semilla 42).</a:t>
            </a:r>
            <a:endParaRPr lang="en-US" sz="16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Qué es PyCaret</a:t>
            </a:r>
            <a:endParaRPr lang="en-US" sz="3000" dirty="0"/>
          </a:p>
        </p:txBody>
      </p:sp>
      <p:sp>
        <p:nvSpPr>
          <p:cNvPr id="3" name="definición"/>
          <p:cNvSpPr txBox="1"/>
          <p:nvPr/>
        </p:nvSpPr>
        <p:spPr>
          <a:xfrm>
            <a:off x="548640" y="1371600"/>
            <a:ext cx="5669280" cy="2011680"/>
          </a:xfrm>
          <a:prstGeom prst="rect">
            <a:avLst/>
          </a:prstGeom>
          <a:noFill/>
          <a:ln/>
        </p:spPr>
        <p:txBody>
          <a:bodyPr wrap="square" lIns="0" tIns="0" rIns="0" bIns="0" rtlCol="0" anchor="t"/>
          <a:lstStyle/>
          <a:p>
            <a:pPr indent="0" marL="0">
              <a:buNone/>
            </a:pPr>
            <a:r>
              <a:rPr lang="en-US" sz="2000" dirty="0">
                <a:solidFill>
                  <a:schemeClr val="tx1"/>
                </a:solidFill>
              </a:rPr>
              <a:t>Biblioteca de código abierto para Python que automatiza el flujo de aprendizaje automático: prepara los datos, compara modelos, ajusta hiperparámetros y evalúa, con pocas líneas de código (low-code).</a:t>
            </a:r>
            <a:endParaRPr lang="en-US" sz="2000" dirty="0"/>
          </a:p>
        </p:txBody>
      </p:sp>
      <p:sp>
        <p:nvSpPr>
          <p:cNvPr id="4" name="problema que resuelve"/>
          <p:cNvSpPr txBox="1"/>
          <p:nvPr/>
        </p:nvSpPr>
        <p:spPr>
          <a:xfrm>
            <a:off x="548640" y="3566160"/>
            <a:ext cx="5669280" cy="1097280"/>
          </a:xfrm>
          <a:prstGeom prst="rect">
            <a:avLst/>
          </a:prstGeom>
          <a:noFill/>
          <a:ln/>
        </p:spPr>
        <p:txBody>
          <a:bodyPr wrap="square" lIns="0" tIns="0" rIns="0" bIns="0" rtlCol="0" anchor="t"/>
          <a:lstStyle/>
          <a:p>
            <a:pPr indent="0" marL="0">
              <a:buNone/>
            </a:pPr>
            <a:r>
              <a:rPr lang="en-US" sz="1600" dirty="0">
                <a:solidFill>
                  <a:schemeClr val="accent5"/>
                </a:solidFill>
              </a:rPr>
              <a:t>Resuelve el código repetitivo de probar muchos algoritmos con scikit-learn y reduce el tiempo entre la hipótesis y los resultados.</a:t>
            </a:r>
            <a:endParaRPr lang="en-US" sz="1600" dirty="0"/>
          </a:p>
        </p:txBody>
      </p:sp>
      <p:sp>
        <p:nvSpPr>
          <p:cNvPr id="5" name="dato Creador"/>
          <p:cNvSpPr/>
          <p:nvPr/>
        </p:nvSpPr>
        <p:spPr>
          <a:xfrm>
            <a:off x="6675120" y="1371600"/>
            <a:ext cx="2377440" cy="1645920"/>
          </a:xfrm>
          <a:prstGeom prst="roundRect">
            <a:avLst>
              <a:gd name="adj" fmla="val 5556"/>
            </a:avLst>
          </a:prstGeom>
          <a:solidFill>
            <a:schemeClr val="bg2"/>
          </a:solidFill>
          <a:ln/>
        </p:spPr>
      </p:sp>
      <p:sp>
        <p:nvSpPr>
          <p:cNvPr id="6" name="etiqueta Creador"/>
          <p:cNvSpPr txBox="1"/>
          <p:nvPr/>
        </p:nvSpPr>
        <p:spPr>
          <a:xfrm>
            <a:off x="6858000" y="1554480"/>
            <a:ext cx="2011680" cy="320040"/>
          </a:xfrm>
          <a:prstGeom prst="rect">
            <a:avLst/>
          </a:prstGeom>
          <a:noFill/>
          <a:ln/>
        </p:spPr>
        <p:txBody>
          <a:bodyPr wrap="square" lIns="0" tIns="0" rIns="0" bIns="0" rtlCol="0" anchor="t"/>
          <a:lstStyle/>
          <a:p>
            <a:pPr indent="0" marL="0">
              <a:buNone/>
            </a:pPr>
            <a:r>
              <a:rPr lang="en-US" sz="1300" b="1" dirty="0">
                <a:solidFill>
                  <a:schemeClr val="accent1"/>
                </a:solidFill>
              </a:rPr>
              <a:t>Creador</a:t>
            </a:r>
            <a:endParaRPr lang="en-US" sz="1300" dirty="0"/>
          </a:p>
        </p:txBody>
      </p:sp>
      <p:sp>
        <p:nvSpPr>
          <p:cNvPr id="7" name="valor Creador"/>
          <p:cNvSpPr txBox="1"/>
          <p:nvPr/>
        </p:nvSpPr>
        <p:spPr>
          <a:xfrm>
            <a:off x="6858000" y="1965960"/>
            <a:ext cx="2011680" cy="914400"/>
          </a:xfrm>
          <a:prstGeom prst="rect">
            <a:avLst/>
          </a:prstGeom>
          <a:noFill/>
          <a:ln/>
        </p:spPr>
        <p:txBody>
          <a:bodyPr wrap="square" lIns="0" tIns="0" rIns="0" bIns="0" rtlCol="0" anchor="t"/>
          <a:lstStyle/>
          <a:p>
            <a:pPr indent="0" marL="0">
              <a:buNone/>
            </a:pPr>
            <a:r>
              <a:rPr lang="en-US" sz="1700" b="1" dirty="0">
                <a:solidFill>
                  <a:schemeClr val="tx2"/>
                </a:solidFill>
              </a:rPr>
              <a:t>Moez Ali (2020) y una comunidad open source</a:t>
            </a:r>
            <a:endParaRPr lang="en-US" sz="1700" dirty="0"/>
          </a:p>
        </p:txBody>
      </p:sp>
      <p:sp>
        <p:nvSpPr>
          <p:cNvPr id="8" name="dato Licencia"/>
          <p:cNvSpPr/>
          <p:nvPr/>
        </p:nvSpPr>
        <p:spPr>
          <a:xfrm>
            <a:off x="9189720" y="1371600"/>
            <a:ext cx="2377440" cy="1645920"/>
          </a:xfrm>
          <a:prstGeom prst="roundRect">
            <a:avLst>
              <a:gd name="adj" fmla="val 5556"/>
            </a:avLst>
          </a:prstGeom>
          <a:solidFill>
            <a:schemeClr val="bg2"/>
          </a:solidFill>
          <a:ln/>
        </p:spPr>
      </p:sp>
      <p:sp>
        <p:nvSpPr>
          <p:cNvPr id="9" name="etiqueta Licencia"/>
          <p:cNvSpPr txBox="1"/>
          <p:nvPr/>
        </p:nvSpPr>
        <p:spPr>
          <a:xfrm>
            <a:off x="9372600" y="1554480"/>
            <a:ext cx="2011680" cy="320040"/>
          </a:xfrm>
          <a:prstGeom prst="rect">
            <a:avLst/>
          </a:prstGeom>
          <a:noFill/>
          <a:ln/>
        </p:spPr>
        <p:txBody>
          <a:bodyPr wrap="square" lIns="0" tIns="0" rIns="0" bIns="0" rtlCol="0" anchor="t"/>
          <a:lstStyle/>
          <a:p>
            <a:pPr indent="0" marL="0">
              <a:buNone/>
            </a:pPr>
            <a:r>
              <a:rPr lang="en-US" sz="1300" b="1" dirty="0">
                <a:solidFill>
                  <a:schemeClr val="accent1"/>
                </a:solidFill>
              </a:rPr>
              <a:t>Licencia</a:t>
            </a:r>
            <a:endParaRPr lang="en-US" sz="1300" dirty="0"/>
          </a:p>
        </p:txBody>
      </p:sp>
      <p:sp>
        <p:nvSpPr>
          <p:cNvPr id="10" name="valor Licencia"/>
          <p:cNvSpPr txBox="1"/>
          <p:nvPr/>
        </p:nvSpPr>
        <p:spPr>
          <a:xfrm>
            <a:off x="9372600" y="1965960"/>
            <a:ext cx="2011680" cy="914400"/>
          </a:xfrm>
          <a:prstGeom prst="rect">
            <a:avLst/>
          </a:prstGeom>
          <a:noFill/>
          <a:ln/>
        </p:spPr>
        <p:txBody>
          <a:bodyPr wrap="square" lIns="0" tIns="0" rIns="0" bIns="0" rtlCol="0" anchor="t"/>
          <a:lstStyle/>
          <a:p>
            <a:pPr indent="0" marL="0">
              <a:buNone/>
            </a:pPr>
            <a:r>
              <a:rPr lang="en-US" sz="1700" b="1" dirty="0">
                <a:solidFill>
                  <a:schemeClr val="tx2"/>
                </a:solidFill>
              </a:rPr>
              <a:t>MIT (el motor de la librería)</a:t>
            </a:r>
            <a:endParaRPr lang="en-US" sz="1700" dirty="0"/>
          </a:p>
        </p:txBody>
      </p:sp>
      <p:sp>
        <p:nvSpPr>
          <p:cNvPr id="11" name="dato Costo"/>
          <p:cNvSpPr/>
          <p:nvPr/>
        </p:nvSpPr>
        <p:spPr>
          <a:xfrm>
            <a:off x="6675120" y="3154680"/>
            <a:ext cx="2377440" cy="1645920"/>
          </a:xfrm>
          <a:prstGeom prst="roundRect">
            <a:avLst>
              <a:gd name="adj" fmla="val 5556"/>
            </a:avLst>
          </a:prstGeom>
          <a:solidFill>
            <a:schemeClr val="bg2"/>
          </a:solidFill>
          <a:ln/>
        </p:spPr>
      </p:sp>
      <p:sp>
        <p:nvSpPr>
          <p:cNvPr id="12" name="etiqueta Costo"/>
          <p:cNvSpPr txBox="1"/>
          <p:nvPr/>
        </p:nvSpPr>
        <p:spPr>
          <a:xfrm>
            <a:off x="6858000" y="3337560"/>
            <a:ext cx="2011680" cy="320040"/>
          </a:xfrm>
          <a:prstGeom prst="rect">
            <a:avLst/>
          </a:prstGeom>
          <a:noFill/>
          <a:ln/>
        </p:spPr>
        <p:txBody>
          <a:bodyPr wrap="square" lIns="0" tIns="0" rIns="0" bIns="0" rtlCol="0" anchor="t"/>
          <a:lstStyle/>
          <a:p>
            <a:pPr indent="0" marL="0">
              <a:buNone/>
            </a:pPr>
            <a:r>
              <a:rPr lang="en-US" sz="1300" b="1" dirty="0">
                <a:solidFill>
                  <a:schemeClr val="accent1"/>
                </a:solidFill>
              </a:rPr>
              <a:t>Costo</a:t>
            </a:r>
            <a:endParaRPr lang="en-US" sz="1300" dirty="0"/>
          </a:p>
        </p:txBody>
      </p:sp>
      <p:sp>
        <p:nvSpPr>
          <p:cNvPr id="13" name="valor Costo"/>
          <p:cNvSpPr txBox="1"/>
          <p:nvPr/>
        </p:nvSpPr>
        <p:spPr>
          <a:xfrm>
            <a:off x="6858000" y="3749040"/>
            <a:ext cx="2011680" cy="914400"/>
          </a:xfrm>
          <a:prstGeom prst="rect">
            <a:avLst/>
          </a:prstGeom>
          <a:noFill/>
          <a:ln/>
        </p:spPr>
        <p:txBody>
          <a:bodyPr wrap="square" lIns="0" tIns="0" rIns="0" bIns="0" rtlCol="0" anchor="t"/>
          <a:lstStyle/>
          <a:p>
            <a:pPr indent="0" marL="0">
              <a:buNone/>
            </a:pPr>
            <a:r>
              <a:rPr lang="en-US" sz="1700" b="1" dirty="0">
                <a:solidFill>
                  <a:schemeClr val="tx2"/>
                </a:solidFill>
              </a:rPr>
              <a:t>Gratuito, sin planes de pago</a:t>
            </a:r>
            <a:endParaRPr lang="en-US" sz="1700" dirty="0"/>
          </a:p>
        </p:txBody>
      </p:sp>
      <p:sp>
        <p:nvSpPr>
          <p:cNvPr id="14" name="dato Versión que usamos"/>
          <p:cNvSpPr/>
          <p:nvPr/>
        </p:nvSpPr>
        <p:spPr>
          <a:xfrm>
            <a:off x="9189720" y="3154680"/>
            <a:ext cx="2377440" cy="1645920"/>
          </a:xfrm>
          <a:prstGeom prst="roundRect">
            <a:avLst>
              <a:gd name="adj" fmla="val 5556"/>
            </a:avLst>
          </a:prstGeom>
          <a:solidFill>
            <a:schemeClr val="bg2"/>
          </a:solidFill>
          <a:ln/>
        </p:spPr>
      </p:sp>
      <p:sp>
        <p:nvSpPr>
          <p:cNvPr id="15" name="etiqueta Versión que usamos"/>
          <p:cNvSpPr txBox="1"/>
          <p:nvPr/>
        </p:nvSpPr>
        <p:spPr>
          <a:xfrm>
            <a:off x="9372600" y="3337560"/>
            <a:ext cx="2011680" cy="320040"/>
          </a:xfrm>
          <a:prstGeom prst="rect">
            <a:avLst/>
          </a:prstGeom>
          <a:noFill/>
          <a:ln/>
        </p:spPr>
        <p:txBody>
          <a:bodyPr wrap="square" lIns="0" tIns="0" rIns="0" bIns="0" rtlCol="0" anchor="t"/>
          <a:lstStyle/>
          <a:p>
            <a:pPr indent="0" marL="0">
              <a:buNone/>
            </a:pPr>
            <a:r>
              <a:rPr lang="en-US" sz="1300" b="1" dirty="0">
                <a:solidFill>
                  <a:schemeClr val="accent1"/>
                </a:solidFill>
              </a:rPr>
              <a:t>Versión que usamos</a:t>
            </a:r>
            <a:endParaRPr lang="en-US" sz="1300" dirty="0"/>
          </a:p>
        </p:txBody>
      </p:sp>
      <p:sp>
        <p:nvSpPr>
          <p:cNvPr id="16" name="valor Versión que usamos"/>
          <p:cNvSpPr txBox="1"/>
          <p:nvPr/>
        </p:nvSpPr>
        <p:spPr>
          <a:xfrm>
            <a:off x="9372600" y="3749040"/>
            <a:ext cx="2011680" cy="914400"/>
          </a:xfrm>
          <a:prstGeom prst="rect">
            <a:avLst/>
          </a:prstGeom>
          <a:noFill/>
          <a:ln/>
        </p:spPr>
        <p:txBody>
          <a:bodyPr wrap="square" lIns="0" tIns="0" rIns="0" bIns="0" rtlCol="0" anchor="t"/>
          <a:lstStyle/>
          <a:p>
            <a:pPr indent="0" marL="0">
              <a:buNone/>
            </a:pPr>
            <a:r>
              <a:rPr lang="en-US" sz="1700" b="1" dirty="0">
                <a:solidFill>
                  <a:schemeClr val="tx2"/>
                </a:solidFill>
              </a:rPr>
              <a:t>3.3.2 (estable)</a:t>
            </a:r>
            <a:endParaRPr lang="en-US" sz="1700" dirty="0"/>
          </a:p>
        </p:txBody>
      </p:sp>
      <p:sp>
        <p:nvSpPr>
          <p:cNvPr id="17" name="nota PyCaret 4.0"/>
          <p:cNvSpPr/>
          <p:nvPr/>
        </p:nvSpPr>
        <p:spPr>
          <a:xfrm>
            <a:off x="548640" y="5029200"/>
            <a:ext cx="11064240" cy="1097280"/>
          </a:xfrm>
          <a:prstGeom prst="roundRect">
            <a:avLst>
              <a:gd name="adj" fmla="val 8333"/>
            </a:avLst>
          </a:prstGeom>
          <a:solidFill>
            <a:schemeClr val="bg2"/>
          </a:solidFill>
          <a:ln/>
        </p:spPr>
      </p:sp>
      <p:sp>
        <p:nvSpPr>
          <p:cNvPr id="18" name="texto nota 4.0"/>
          <p:cNvSpPr txBox="1"/>
          <p:nvPr/>
        </p:nvSpPr>
        <p:spPr>
          <a:xfrm>
            <a:off x="777240" y="5166360"/>
            <a:ext cx="10607040" cy="822960"/>
          </a:xfrm>
          <a:prstGeom prst="rect">
            <a:avLst/>
          </a:prstGeom>
          <a:noFill/>
          <a:ln/>
        </p:spPr>
        <p:txBody>
          <a:bodyPr wrap="square" lIns="0" tIns="0" rIns="0" bIns="0" rtlCol="0" anchor="ctr"/>
          <a:lstStyle/>
          <a:p>
            <a:pPr indent="0" marL="0">
              <a:buNone/>
            </a:pPr>
            <a:r>
              <a:rPr lang="en-US" sz="1400" b="1" dirty="0">
                <a:solidFill>
                  <a:schemeClr val="tx2"/>
                </a:solidFill>
              </a:rPr>
              <a:t>Novedad: PyCaret 4.0 (en desarrollo). </a:t>
            </a:r>
            <a:pPr indent="0" marL="0">
              <a:buNone/>
            </a:pPr>
            <a:r>
              <a:rPr lang="en-US" sz="1400" dirty="0">
                <a:solidFill>
                  <a:schemeClr val="tx1"/>
                </a:solidFill>
              </a:rPr>
              <a:t>Es una reescritura que no es compatible con 3.x. Según su repositorio, el motor sigue siendo MIT, pero el panel y el servidor usan la licencia BUSL-1.1. Fuente: github.com/pycaret/pycaret.</a:t>
            </a:r>
            <a:endParaRPr lang="en-US" sz="14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Dónde interviene en el ciclo de vida de los datos</a:t>
            </a:r>
            <a:endParaRPr lang="en-US" sz="3000" dirty="0"/>
          </a:p>
        </p:txBody>
      </p:sp>
      <p:sp>
        <p:nvSpPr>
          <p:cNvPr id="3" name="etiqueta etapa"/>
          <p:cNvSpPr txBox="1"/>
          <p:nvPr/>
        </p:nvSpPr>
        <p:spPr>
          <a:xfrm>
            <a:off x="548640" y="1737360"/>
            <a:ext cx="1463040" cy="457200"/>
          </a:xfrm>
          <a:prstGeom prst="rect">
            <a:avLst/>
          </a:prstGeom>
          <a:noFill/>
          <a:ln/>
        </p:spPr>
        <p:txBody>
          <a:bodyPr wrap="square" lIns="0" tIns="0" rIns="0" bIns="0" rtlCol="0" anchor="ctr"/>
          <a:lstStyle/>
          <a:p>
            <a:pPr indent="0" marL="0">
              <a:buNone/>
            </a:pPr>
            <a:r>
              <a:rPr lang="en-US" sz="1400" b="1" dirty="0">
                <a:solidFill>
                  <a:schemeClr val="accent5"/>
                </a:solidFill>
              </a:rPr>
              <a:t>Etapa</a:t>
            </a:r>
            <a:endParaRPr lang="en-US" sz="1400" dirty="0"/>
          </a:p>
        </p:txBody>
      </p:sp>
      <p:sp>
        <p:nvSpPr>
          <p:cNvPr id="4" name="etiqueta PyCaret"/>
          <p:cNvSpPr txBox="1"/>
          <p:nvPr/>
        </p:nvSpPr>
        <p:spPr>
          <a:xfrm>
            <a:off x="548640" y="2926080"/>
            <a:ext cx="1463040" cy="640080"/>
          </a:xfrm>
          <a:prstGeom prst="rect">
            <a:avLst/>
          </a:prstGeom>
          <a:noFill/>
          <a:ln/>
        </p:spPr>
        <p:txBody>
          <a:bodyPr wrap="square" lIns="0" tIns="0" rIns="0" bIns="0" rtlCol="0" anchor="ctr"/>
          <a:lstStyle/>
          <a:p>
            <a:pPr indent="0" marL="0">
              <a:buNone/>
            </a:pPr>
            <a:r>
              <a:rPr lang="en-US" sz="1400" b="1" dirty="0">
                <a:solidFill>
                  <a:schemeClr val="accent5"/>
                </a:solidFill>
              </a:rPr>
              <a:t>Qué hace PyCaret</a:t>
            </a:r>
            <a:endParaRPr lang="en-US" sz="1400" dirty="0"/>
          </a:p>
        </p:txBody>
      </p:sp>
      <p:sp>
        <p:nvSpPr>
          <p:cNvPr id="5" name="etiqueta trabajo"/>
          <p:cNvSpPr txBox="1"/>
          <p:nvPr/>
        </p:nvSpPr>
        <p:spPr>
          <a:xfrm>
            <a:off x="548640" y="4526280"/>
            <a:ext cx="1463040" cy="640080"/>
          </a:xfrm>
          <a:prstGeom prst="rect">
            <a:avLst/>
          </a:prstGeom>
          <a:noFill/>
          <a:ln/>
        </p:spPr>
        <p:txBody>
          <a:bodyPr wrap="square" lIns="0" tIns="0" rIns="0" bIns="0" rtlCol="0" anchor="ctr"/>
          <a:lstStyle/>
          <a:p>
            <a:pPr indent="0" marL="0">
              <a:buNone/>
            </a:pPr>
            <a:r>
              <a:rPr lang="en-US" sz="1400" b="1" dirty="0">
                <a:solidFill>
                  <a:schemeClr val="accent5"/>
                </a:solidFill>
              </a:rPr>
              <a:t>En nuestro trabajo</a:t>
            </a:r>
            <a:endParaRPr lang="en-US" sz="1400" dirty="0"/>
          </a:p>
        </p:txBody>
      </p:sp>
      <p:sp>
        <p:nvSpPr>
          <p:cNvPr id="6" name="etapa 1"/>
          <p:cNvSpPr/>
          <p:nvPr/>
        </p:nvSpPr>
        <p:spPr>
          <a:xfrm>
            <a:off x="2103120" y="1463040"/>
            <a:ext cx="1810512" cy="1005840"/>
          </a:xfrm>
          <a:prstGeom prst="roundRect">
            <a:avLst>
              <a:gd name="adj" fmla="val 7273"/>
            </a:avLst>
          </a:prstGeom>
          <a:solidFill>
            <a:schemeClr val="tx2"/>
          </a:solidFill>
          <a:ln/>
        </p:spPr>
      </p:sp>
      <p:sp>
        <p:nvSpPr>
          <p:cNvPr id="7" name="texto etapa 1"/>
          <p:cNvSpPr txBox="1"/>
          <p:nvPr/>
        </p:nvSpPr>
        <p:spPr>
          <a:xfrm>
            <a:off x="2194560" y="1463040"/>
            <a:ext cx="1627632" cy="1005840"/>
          </a:xfrm>
          <a:prstGeom prst="rect">
            <a:avLst/>
          </a:prstGeom>
          <a:noFill/>
          <a:ln/>
        </p:spPr>
        <p:txBody>
          <a:bodyPr wrap="square" lIns="0" tIns="0" rIns="0" bIns="0" rtlCol="0" anchor="ctr"/>
          <a:lstStyle/>
          <a:p>
            <a:pPr algn="ctr" indent="0" marL="0">
              <a:buNone/>
            </a:pPr>
            <a:r>
              <a:rPr lang="en-US" sz="1600" b="1" dirty="0">
                <a:solidFill>
                  <a:schemeClr val="bg1"/>
                </a:solidFill>
              </a:rPr>
              <a:t>1 Recolección</a:t>
            </a:r>
            <a:endParaRPr lang="en-US" sz="1600" dirty="0"/>
          </a:p>
        </p:txBody>
      </p:sp>
      <p:sp>
        <p:nvSpPr>
          <p:cNvPr id="8" name="PyCaret 1"/>
          <p:cNvSpPr/>
          <p:nvPr/>
        </p:nvSpPr>
        <p:spPr>
          <a:xfrm>
            <a:off x="2103120" y="2651760"/>
            <a:ext cx="1810512" cy="1280160"/>
          </a:xfrm>
          <a:prstGeom prst="roundRect">
            <a:avLst>
              <a:gd name="adj" fmla="val 5714"/>
            </a:avLst>
          </a:prstGeom>
          <a:solidFill>
            <a:schemeClr val="bg2"/>
          </a:solidFill>
          <a:ln/>
        </p:spPr>
      </p:sp>
      <p:sp>
        <p:nvSpPr>
          <p:cNvPr id="9" name="texto PyCaret 1"/>
          <p:cNvSpPr txBox="1"/>
          <p:nvPr/>
        </p:nvSpPr>
        <p:spPr>
          <a:xfrm>
            <a:off x="2194560" y="2651760"/>
            <a:ext cx="1627632" cy="1280160"/>
          </a:xfrm>
          <a:prstGeom prst="rect">
            <a:avLst/>
          </a:prstGeom>
          <a:noFill/>
          <a:ln/>
        </p:spPr>
        <p:txBody>
          <a:bodyPr wrap="square" lIns="0" tIns="0" rIns="0" bIns="0" rtlCol="0" anchor="ctr"/>
          <a:lstStyle/>
          <a:p>
            <a:pPr algn="ctr" indent="0" marL="0">
              <a:buNone/>
            </a:pPr>
            <a:r>
              <a:rPr lang="en-US" sz="1400" dirty="0">
                <a:solidFill>
                  <a:schemeClr val="accent5"/>
                </a:solidFill>
              </a:rPr>
              <a:t>No interviene</a:t>
            </a:r>
            <a:endParaRPr lang="en-US" sz="1400" dirty="0"/>
          </a:p>
        </p:txBody>
      </p:sp>
      <p:sp>
        <p:nvSpPr>
          <p:cNvPr id="10" name="trabajo 1"/>
          <p:cNvSpPr/>
          <p:nvPr/>
        </p:nvSpPr>
        <p:spPr>
          <a:xfrm>
            <a:off x="2103120" y="4114800"/>
            <a:ext cx="1810512" cy="1280160"/>
          </a:xfrm>
          <a:prstGeom prst="roundRect">
            <a:avLst>
              <a:gd name="adj" fmla="val 5714"/>
            </a:avLst>
          </a:prstGeom>
          <a:solidFill>
            <a:schemeClr val="bg2"/>
          </a:solidFill>
          <a:ln w="12700">
            <a:solidFill>
              <a:schemeClr val="accent6"/>
            </a:solidFill>
            <a:prstDash val="solid"/>
          </a:ln>
        </p:spPr>
      </p:sp>
      <p:sp>
        <p:nvSpPr>
          <p:cNvPr id="11" name="texto trabajo 1"/>
          <p:cNvSpPr txBox="1"/>
          <p:nvPr/>
        </p:nvSpPr>
        <p:spPr>
          <a:xfrm>
            <a:off x="2194560" y="4114800"/>
            <a:ext cx="1627632" cy="1280160"/>
          </a:xfrm>
          <a:prstGeom prst="rect">
            <a:avLst/>
          </a:prstGeom>
          <a:noFill/>
          <a:ln/>
        </p:spPr>
        <p:txBody>
          <a:bodyPr wrap="square" lIns="0" tIns="0" rIns="0" bIns="0" rtlCol="0" anchor="ctr"/>
          <a:lstStyle/>
          <a:p>
            <a:pPr algn="ctr" indent="0" marL="0">
              <a:buNone/>
            </a:pPr>
            <a:r>
              <a:rPr lang="en-US" sz="1400" dirty="0">
                <a:solidFill>
                  <a:schemeClr val="tx2"/>
                </a:solidFill>
              </a:rPr>
              <a:t>Dataset público de Kaggle</a:t>
            </a:r>
            <a:endParaRPr lang="en-US" sz="1400" dirty="0"/>
          </a:p>
        </p:txBody>
      </p:sp>
      <p:sp>
        <p:nvSpPr>
          <p:cNvPr id="12" name="etapa 2"/>
          <p:cNvSpPr/>
          <p:nvPr/>
        </p:nvSpPr>
        <p:spPr>
          <a:xfrm>
            <a:off x="4005072" y="1463040"/>
            <a:ext cx="1810512" cy="1005840"/>
          </a:xfrm>
          <a:prstGeom prst="roundRect">
            <a:avLst>
              <a:gd name="adj" fmla="val 7273"/>
            </a:avLst>
          </a:prstGeom>
          <a:solidFill>
            <a:schemeClr val="tx2"/>
          </a:solidFill>
          <a:ln/>
        </p:spPr>
      </p:sp>
      <p:sp>
        <p:nvSpPr>
          <p:cNvPr id="13" name="texto etapa 2"/>
          <p:cNvSpPr txBox="1"/>
          <p:nvPr/>
        </p:nvSpPr>
        <p:spPr>
          <a:xfrm>
            <a:off x="4096512" y="1463040"/>
            <a:ext cx="1627632" cy="1005840"/>
          </a:xfrm>
          <a:prstGeom prst="rect">
            <a:avLst/>
          </a:prstGeom>
          <a:noFill/>
          <a:ln/>
        </p:spPr>
        <p:txBody>
          <a:bodyPr wrap="square" lIns="0" tIns="0" rIns="0" bIns="0" rtlCol="0" anchor="ctr"/>
          <a:lstStyle/>
          <a:p>
            <a:pPr algn="ctr" indent="0" marL="0">
              <a:buNone/>
            </a:pPr>
            <a:r>
              <a:rPr lang="en-US" sz="1600" b="1" dirty="0">
                <a:solidFill>
                  <a:schemeClr val="bg1"/>
                </a:solidFill>
              </a:rPr>
              <a:t>2 Limpieza y preparación</a:t>
            </a:r>
            <a:endParaRPr lang="en-US" sz="1600" dirty="0"/>
          </a:p>
        </p:txBody>
      </p:sp>
      <p:sp>
        <p:nvSpPr>
          <p:cNvPr id="14" name="PyCaret 2"/>
          <p:cNvSpPr/>
          <p:nvPr/>
        </p:nvSpPr>
        <p:spPr>
          <a:xfrm>
            <a:off x="4005072" y="2651760"/>
            <a:ext cx="1810512" cy="1280160"/>
          </a:xfrm>
          <a:prstGeom prst="roundRect">
            <a:avLst>
              <a:gd name="adj" fmla="val 5714"/>
            </a:avLst>
          </a:prstGeom>
          <a:solidFill>
            <a:schemeClr val="accent1"/>
          </a:solidFill>
          <a:ln/>
        </p:spPr>
      </p:sp>
      <p:sp>
        <p:nvSpPr>
          <p:cNvPr id="15" name="texto PyCaret 2"/>
          <p:cNvSpPr txBox="1"/>
          <p:nvPr/>
        </p:nvSpPr>
        <p:spPr>
          <a:xfrm>
            <a:off x="4096512" y="2651760"/>
            <a:ext cx="1627632" cy="1280160"/>
          </a:xfrm>
          <a:prstGeom prst="rect">
            <a:avLst/>
          </a:prstGeom>
          <a:noFill/>
          <a:ln/>
        </p:spPr>
        <p:txBody>
          <a:bodyPr wrap="square" lIns="0" tIns="0" rIns="0" bIns="0" rtlCol="0" anchor="ctr"/>
          <a:lstStyle/>
          <a:p>
            <a:pPr algn="ctr" indent="0" marL="0">
              <a:buNone/>
            </a:pPr>
            <a:r>
              <a:rPr lang="en-US" sz="1400" b="1" dirty="0">
                <a:solidFill>
                  <a:schemeClr val="bg1"/>
                </a:solidFill>
              </a:rPr>
              <a:t>setup(): imputa nulos y codifica variables</a:t>
            </a:r>
            <a:endParaRPr lang="en-US" sz="1400" dirty="0"/>
          </a:p>
        </p:txBody>
      </p:sp>
      <p:sp>
        <p:nvSpPr>
          <p:cNvPr id="16" name="trabajo 2"/>
          <p:cNvSpPr/>
          <p:nvPr/>
        </p:nvSpPr>
        <p:spPr>
          <a:xfrm>
            <a:off x="4005072" y="4114800"/>
            <a:ext cx="1810512" cy="1280160"/>
          </a:xfrm>
          <a:prstGeom prst="roundRect">
            <a:avLst>
              <a:gd name="adj" fmla="val 5714"/>
            </a:avLst>
          </a:prstGeom>
          <a:solidFill>
            <a:schemeClr val="bg2"/>
          </a:solidFill>
          <a:ln w="12700">
            <a:solidFill>
              <a:schemeClr val="accent6"/>
            </a:solidFill>
            <a:prstDash val="solid"/>
          </a:ln>
        </p:spPr>
      </p:sp>
      <p:sp>
        <p:nvSpPr>
          <p:cNvPr id="17" name="texto trabajo 2"/>
          <p:cNvSpPr txBox="1"/>
          <p:nvPr/>
        </p:nvSpPr>
        <p:spPr>
          <a:xfrm>
            <a:off x="4096512" y="4114800"/>
            <a:ext cx="1627632" cy="1280160"/>
          </a:xfrm>
          <a:prstGeom prst="rect">
            <a:avLst/>
          </a:prstGeom>
          <a:noFill/>
          <a:ln/>
        </p:spPr>
        <p:txBody>
          <a:bodyPr wrap="square" lIns="0" tIns="0" rIns="0" bIns="0" rtlCol="0" anchor="ctr"/>
          <a:lstStyle/>
          <a:p>
            <a:pPr algn="ctr" indent="0" marL="0">
              <a:buNone/>
            </a:pPr>
            <a:r>
              <a:rPr lang="en-US" sz="1400" dirty="0">
                <a:solidFill>
                  <a:schemeClr val="tx2"/>
                </a:solidFill>
              </a:rPr>
              <a:t>Limpieza manual (Marcos)</a:t>
            </a:r>
            <a:endParaRPr lang="en-US" sz="1400" dirty="0"/>
          </a:p>
        </p:txBody>
      </p:sp>
      <p:sp>
        <p:nvSpPr>
          <p:cNvPr id="18" name="etapa 3"/>
          <p:cNvSpPr/>
          <p:nvPr/>
        </p:nvSpPr>
        <p:spPr>
          <a:xfrm>
            <a:off x="5907024" y="1463040"/>
            <a:ext cx="1810512" cy="1005840"/>
          </a:xfrm>
          <a:prstGeom prst="roundRect">
            <a:avLst>
              <a:gd name="adj" fmla="val 7273"/>
            </a:avLst>
          </a:prstGeom>
          <a:solidFill>
            <a:schemeClr val="tx2"/>
          </a:solidFill>
          <a:ln/>
        </p:spPr>
      </p:sp>
      <p:sp>
        <p:nvSpPr>
          <p:cNvPr id="19" name="texto etapa 3"/>
          <p:cNvSpPr txBox="1"/>
          <p:nvPr/>
        </p:nvSpPr>
        <p:spPr>
          <a:xfrm>
            <a:off x="5998464" y="1463040"/>
            <a:ext cx="1627632" cy="1005840"/>
          </a:xfrm>
          <a:prstGeom prst="rect">
            <a:avLst/>
          </a:prstGeom>
          <a:noFill/>
          <a:ln/>
        </p:spPr>
        <p:txBody>
          <a:bodyPr wrap="square" lIns="0" tIns="0" rIns="0" bIns="0" rtlCol="0" anchor="ctr"/>
          <a:lstStyle/>
          <a:p>
            <a:pPr algn="ctr" indent="0" marL="0">
              <a:buNone/>
            </a:pPr>
            <a:r>
              <a:rPr lang="en-US" sz="1600" b="1" dirty="0">
                <a:solidFill>
                  <a:schemeClr val="bg1"/>
                </a:solidFill>
              </a:rPr>
              <a:t>3 Modelado</a:t>
            </a:r>
            <a:endParaRPr lang="en-US" sz="1600" dirty="0"/>
          </a:p>
        </p:txBody>
      </p:sp>
      <p:sp>
        <p:nvSpPr>
          <p:cNvPr id="20" name="PyCaret 3"/>
          <p:cNvSpPr/>
          <p:nvPr/>
        </p:nvSpPr>
        <p:spPr>
          <a:xfrm>
            <a:off x="5907024" y="2651760"/>
            <a:ext cx="1810512" cy="1280160"/>
          </a:xfrm>
          <a:prstGeom prst="roundRect">
            <a:avLst>
              <a:gd name="adj" fmla="val 5714"/>
            </a:avLst>
          </a:prstGeom>
          <a:solidFill>
            <a:schemeClr val="accent1"/>
          </a:solidFill>
          <a:ln/>
        </p:spPr>
      </p:sp>
      <p:sp>
        <p:nvSpPr>
          <p:cNvPr id="21" name="texto PyCaret 3"/>
          <p:cNvSpPr txBox="1"/>
          <p:nvPr/>
        </p:nvSpPr>
        <p:spPr>
          <a:xfrm>
            <a:off x="5998464" y="2651760"/>
            <a:ext cx="1627632" cy="1280160"/>
          </a:xfrm>
          <a:prstGeom prst="rect">
            <a:avLst/>
          </a:prstGeom>
          <a:noFill/>
          <a:ln/>
        </p:spPr>
        <p:txBody>
          <a:bodyPr wrap="square" lIns="0" tIns="0" rIns="0" bIns="0" rtlCol="0" anchor="ctr"/>
          <a:lstStyle/>
          <a:p>
            <a:pPr algn="ctr" indent="0" marL="0">
              <a:buNone/>
            </a:pPr>
            <a:r>
              <a:rPr lang="en-US" sz="1400" b="1" dirty="0">
                <a:solidFill>
                  <a:schemeClr val="bg1"/>
                </a:solidFill>
              </a:rPr>
              <a:t>compare_models() y tune_model()</a:t>
            </a:r>
            <a:endParaRPr lang="en-US" sz="1400" dirty="0"/>
          </a:p>
        </p:txBody>
      </p:sp>
      <p:sp>
        <p:nvSpPr>
          <p:cNvPr id="22" name="trabajo 3"/>
          <p:cNvSpPr/>
          <p:nvPr/>
        </p:nvSpPr>
        <p:spPr>
          <a:xfrm>
            <a:off x="5907024" y="4114800"/>
            <a:ext cx="1810512" cy="1280160"/>
          </a:xfrm>
          <a:prstGeom prst="roundRect">
            <a:avLst>
              <a:gd name="adj" fmla="val 5714"/>
            </a:avLst>
          </a:prstGeom>
          <a:solidFill>
            <a:schemeClr val="bg2"/>
          </a:solidFill>
          <a:ln w="12700">
            <a:solidFill>
              <a:schemeClr val="accent6"/>
            </a:solidFill>
            <a:prstDash val="solid"/>
          </a:ln>
        </p:spPr>
      </p:sp>
      <p:sp>
        <p:nvSpPr>
          <p:cNvPr id="23" name="texto trabajo 3"/>
          <p:cNvSpPr txBox="1"/>
          <p:nvPr/>
        </p:nvSpPr>
        <p:spPr>
          <a:xfrm>
            <a:off x="5998464" y="4114800"/>
            <a:ext cx="1627632" cy="1280160"/>
          </a:xfrm>
          <a:prstGeom prst="rect">
            <a:avLst/>
          </a:prstGeom>
          <a:noFill/>
          <a:ln/>
        </p:spPr>
        <p:txBody>
          <a:bodyPr wrap="square" lIns="0" tIns="0" rIns="0" bIns="0" rtlCol="0" anchor="ctr"/>
          <a:lstStyle/>
          <a:p>
            <a:pPr algn="ctr" indent="0" marL="0">
              <a:buNone/>
            </a:pPr>
            <a:r>
              <a:rPr lang="en-US" sz="1400" dirty="0">
                <a:solidFill>
                  <a:schemeClr val="tx2"/>
                </a:solidFill>
              </a:rPr>
              <a:t>PyCaret (Bryam) vs. scikit-learn (Daniel)</a:t>
            </a:r>
            <a:endParaRPr lang="en-US" sz="1400" dirty="0"/>
          </a:p>
        </p:txBody>
      </p:sp>
      <p:sp>
        <p:nvSpPr>
          <p:cNvPr id="24" name="etapa 4"/>
          <p:cNvSpPr/>
          <p:nvPr/>
        </p:nvSpPr>
        <p:spPr>
          <a:xfrm>
            <a:off x="7808976" y="1463040"/>
            <a:ext cx="1810512" cy="1005840"/>
          </a:xfrm>
          <a:prstGeom prst="roundRect">
            <a:avLst>
              <a:gd name="adj" fmla="val 7273"/>
            </a:avLst>
          </a:prstGeom>
          <a:solidFill>
            <a:schemeClr val="tx2"/>
          </a:solidFill>
          <a:ln/>
        </p:spPr>
      </p:sp>
      <p:sp>
        <p:nvSpPr>
          <p:cNvPr id="25" name="texto etapa 4"/>
          <p:cNvSpPr txBox="1"/>
          <p:nvPr/>
        </p:nvSpPr>
        <p:spPr>
          <a:xfrm>
            <a:off x="7900416" y="1463040"/>
            <a:ext cx="1627632" cy="1005840"/>
          </a:xfrm>
          <a:prstGeom prst="rect">
            <a:avLst/>
          </a:prstGeom>
          <a:noFill/>
          <a:ln/>
        </p:spPr>
        <p:txBody>
          <a:bodyPr wrap="square" lIns="0" tIns="0" rIns="0" bIns="0" rtlCol="0" anchor="ctr"/>
          <a:lstStyle/>
          <a:p>
            <a:pPr algn="ctr" indent="0" marL="0">
              <a:buNone/>
            </a:pPr>
            <a:r>
              <a:rPr lang="en-US" sz="1600" b="1" dirty="0">
                <a:solidFill>
                  <a:schemeClr val="bg1"/>
                </a:solidFill>
              </a:rPr>
              <a:t>4 Evaluación</a:t>
            </a:r>
            <a:endParaRPr lang="en-US" sz="1600" dirty="0"/>
          </a:p>
        </p:txBody>
      </p:sp>
      <p:sp>
        <p:nvSpPr>
          <p:cNvPr id="26" name="PyCaret 4"/>
          <p:cNvSpPr/>
          <p:nvPr/>
        </p:nvSpPr>
        <p:spPr>
          <a:xfrm>
            <a:off x="7808976" y="2651760"/>
            <a:ext cx="1810512" cy="1280160"/>
          </a:xfrm>
          <a:prstGeom prst="roundRect">
            <a:avLst>
              <a:gd name="adj" fmla="val 5714"/>
            </a:avLst>
          </a:prstGeom>
          <a:solidFill>
            <a:schemeClr val="accent1"/>
          </a:solidFill>
          <a:ln/>
        </p:spPr>
      </p:sp>
      <p:sp>
        <p:nvSpPr>
          <p:cNvPr id="27" name="texto PyCaret 4"/>
          <p:cNvSpPr txBox="1"/>
          <p:nvPr/>
        </p:nvSpPr>
        <p:spPr>
          <a:xfrm>
            <a:off x="7900416" y="2651760"/>
            <a:ext cx="1627632" cy="1280160"/>
          </a:xfrm>
          <a:prstGeom prst="rect">
            <a:avLst/>
          </a:prstGeom>
          <a:noFill/>
          <a:ln/>
        </p:spPr>
        <p:txBody>
          <a:bodyPr wrap="square" lIns="0" tIns="0" rIns="0" bIns="0" rtlCol="0" anchor="ctr"/>
          <a:lstStyle/>
          <a:p>
            <a:pPr algn="ctr" indent="0" marL="0">
              <a:buNone/>
            </a:pPr>
            <a:r>
              <a:rPr lang="en-US" sz="1400" b="1" dirty="0">
                <a:solidFill>
                  <a:schemeClr val="bg1"/>
                </a:solidFill>
              </a:rPr>
              <a:t>plot_model() y predict_model()</a:t>
            </a:r>
            <a:endParaRPr lang="en-US" sz="1400" dirty="0"/>
          </a:p>
        </p:txBody>
      </p:sp>
      <p:sp>
        <p:nvSpPr>
          <p:cNvPr id="28" name="trabajo 4"/>
          <p:cNvSpPr/>
          <p:nvPr/>
        </p:nvSpPr>
        <p:spPr>
          <a:xfrm>
            <a:off x="7808976" y="4114800"/>
            <a:ext cx="1810512" cy="1280160"/>
          </a:xfrm>
          <a:prstGeom prst="roundRect">
            <a:avLst>
              <a:gd name="adj" fmla="val 5714"/>
            </a:avLst>
          </a:prstGeom>
          <a:solidFill>
            <a:schemeClr val="bg2"/>
          </a:solidFill>
          <a:ln w="12700">
            <a:solidFill>
              <a:schemeClr val="accent6"/>
            </a:solidFill>
            <a:prstDash val="solid"/>
          </a:ln>
        </p:spPr>
      </p:sp>
      <p:sp>
        <p:nvSpPr>
          <p:cNvPr id="29" name="texto trabajo 4"/>
          <p:cNvSpPr txBox="1"/>
          <p:nvPr/>
        </p:nvSpPr>
        <p:spPr>
          <a:xfrm>
            <a:off x="7900416" y="4114800"/>
            <a:ext cx="1627632" cy="1280160"/>
          </a:xfrm>
          <a:prstGeom prst="rect">
            <a:avLst/>
          </a:prstGeom>
          <a:noFill/>
          <a:ln/>
        </p:spPr>
        <p:txBody>
          <a:bodyPr wrap="square" lIns="0" tIns="0" rIns="0" bIns="0" rtlCol="0" anchor="ctr"/>
          <a:lstStyle/>
          <a:p>
            <a:pPr algn="ctr" indent="0" marL="0">
              <a:buNone/>
            </a:pPr>
            <a:r>
              <a:rPr lang="en-US" sz="1400" dirty="0">
                <a:solidFill>
                  <a:schemeClr val="tx2"/>
                </a:solidFill>
              </a:rPr>
              <a:t>F1, ROC-AUC e IC por bootstrap</a:t>
            </a:r>
            <a:endParaRPr lang="en-US" sz="1400" dirty="0"/>
          </a:p>
        </p:txBody>
      </p:sp>
      <p:sp>
        <p:nvSpPr>
          <p:cNvPr id="30" name="etapa 5"/>
          <p:cNvSpPr/>
          <p:nvPr/>
        </p:nvSpPr>
        <p:spPr>
          <a:xfrm>
            <a:off x="9710928" y="1463040"/>
            <a:ext cx="1810512" cy="1005840"/>
          </a:xfrm>
          <a:prstGeom prst="roundRect">
            <a:avLst>
              <a:gd name="adj" fmla="val 7273"/>
            </a:avLst>
          </a:prstGeom>
          <a:solidFill>
            <a:schemeClr val="tx2"/>
          </a:solidFill>
          <a:ln/>
        </p:spPr>
      </p:sp>
      <p:sp>
        <p:nvSpPr>
          <p:cNvPr id="31" name="texto etapa 5"/>
          <p:cNvSpPr txBox="1"/>
          <p:nvPr/>
        </p:nvSpPr>
        <p:spPr>
          <a:xfrm>
            <a:off x="9802368" y="1463040"/>
            <a:ext cx="1627632" cy="1005840"/>
          </a:xfrm>
          <a:prstGeom prst="rect">
            <a:avLst/>
          </a:prstGeom>
          <a:noFill/>
          <a:ln/>
        </p:spPr>
        <p:txBody>
          <a:bodyPr wrap="square" lIns="0" tIns="0" rIns="0" bIns="0" rtlCol="0" anchor="ctr"/>
          <a:lstStyle/>
          <a:p>
            <a:pPr algn="ctr" indent="0" marL="0">
              <a:buNone/>
            </a:pPr>
            <a:r>
              <a:rPr lang="en-US" sz="1600" b="1" dirty="0">
                <a:solidFill>
                  <a:schemeClr val="bg1"/>
                </a:solidFill>
              </a:rPr>
              <a:t>5 Despliegue</a:t>
            </a:r>
            <a:endParaRPr lang="en-US" sz="1600" dirty="0"/>
          </a:p>
        </p:txBody>
      </p:sp>
      <p:sp>
        <p:nvSpPr>
          <p:cNvPr id="32" name="PyCaret 5"/>
          <p:cNvSpPr/>
          <p:nvPr/>
        </p:nvSpPr>
        <p:spPr>
          <a:xfrm>
            <a:off x="9710928" y="2651760"/>
            <a:ext cx="1810512" cy="1280160"/>
          </a:xfrm>
          <a:prstGeom prst="roundRect">
            <a:avLst>
              <a:gd name="adj" fmla="val 5714"/>
            </a:avLst>
          </a:prstGeom>
          <a:solidFill>
            <a:schemeClr val="accent1"/>
          </a:solidFill>
          <a:ln/>
        </p:spPr>
      </p:sp>
      <p:sp>
        <p:nvSpPr>
          <p:cNvPr id="33" name="texto PyCaret 5"/>
          <p:cNvSpPr txBox="1"/>
          <p:nvPr/>
        </p:nvSpPr>
        <p:spPr>
          <a:xfrm>
            <a:off x="9802368" y="2651760"/>
            <a:ext cx="1627632" cy="1280160"/>
          </a:xfrm>
          <a:prstGeom prst="rect">
            <a:avLst/>
          </a:prstGeom>
          <a:noFill/>
          <a:ln/>
        </p:spPr>
        <p:txBody>
          <a:bodyPr wrap="square" lIns="0" tIns="0" rIns="0" bIns="0" rtlCol="0" anchor="ctr"/>
          <a:lstStyle/>
          <a:p>
            <a:pPr algn="ctr" indent="0" marL="0">
              <a:buNone/>
            </a:pPr>
            <a:r>
              <a:rPr lang="en-US" sz="1400" b="1" dirty="0">
                <a:solidFill>
                  <a:schemeClr val="bg1"/>
                </a:solidFill>
              </a:rPr>
              <a:t>finalize_model() y save_model()</a:t>
            </a:r>
            <a:endParaRPr lang="en-US" sz="1400" dirty="0"/>
          </a:p>
        </p:txBody>
      </p:sp>
      <p:sp>
        <p:nvSpPr>
          <p:cNvPr id="34" name="trabajo 5"/>
          <p:cNvSpPr/>
          <p:nvPr/>
        </p:nvSpPr>
        <p:spPr>
          <a:xfrm>
            <a:off x="9710928" y="4114800"/>
            <a:ext cx="1810512" cy="1280160"/>
          </a:xfrm>
          <a:prstGeom prst="roundRect">
            <a:avLst>
              <a:gd name="adj" fmla="val 5714"/>
            </a:avLst>
          </a:prstGeom>
          <a:solidFill>
            <a:schemeClr val="bg2"/>
          </a:solidFill>
          <a:ln w="12700">
            <a:solidFill>
              <a:schemeClr val="accent6"/>
            </a:solidFill>
            <a:prstDash val="solid"/>
          </a:ln>
        </p:spPr>
      </p:sp>
      <p:sp>
        <p:nvSpPr>
          <p:cNvPr id="35" name="texto trabajo 5"/>
          <p:cNvSpPr txBox="1"/>
          <p:nvPr/>
        </p:nvSpPr>
        <p:spPr>
          <a:xfrm>
            <a:off x="9802368" y="4114800"/>
            <a:ext cx="1627632" cy="1280160"/>
          </a:xfrm>
          <a:prstGeom prst="rect">
            <a:avLst/>
          </a:prstGeom>
          <a:noFill/>
          <a:ln/>
        </p:spPr>
        <p:txBody>
          <a:bodyPr wrap="square" lIns="0" tIns="0" rIns="0" bIns="0" rtlCol="0" anchor="ctr"/>
          <a:lstStyle/>
          <a:p>
            <a:pPr algn="ctr" indent="0" marL="0">
              <a:buNone/>
            </a:pPr>
            <a:r>
              <a:rPr lang="en-US" sz="1400" dirty="0">
                <a:solidFill>
                  <a:schemeClr val="tx2"/>
                </a:solidFill>
              </a:rPr>
              <a:t>No lo hicimos</a:t>
            </a:r>
            <a:endParaRPr lang="en-US" sz="1400" dirty="0"/>
          </a:p>
        </p:txBody>
      </p:sp>
      <p:sp>
        <p:nvSpPr>
          <p:cNvPr id="36" name="aclaración"/>
          <p:cNvSpPr txBox="1"/>
          <p:nvPr/>
        </p:nvSpPr>
        <p:spPr>
          <a:xfrm>
            <a:off x="548640" y="5669280"/>
            <a:ext cx="11064240" cy="457200"/>
          </a:xfrm>
          <a:prstGeom prst="rect">
            <a:avLst/>
          </a:prstGeom>
          <a:noFill/>
          <a:ln/>
        </p:spPr>
        <p:txBody>
          <a:bodyPr wrap="square" lIns="0" tIns="0" rIns="0" bIns="0" rtlCol="0" anchor="t"/>
          <a:lstStyle/>
          <a:p>
            <a:pPr indent="0" marL="0">
              <a:buNone/>
            </a:pPr>
            <a:r>
              <a:rPr lang="en-US" sz="1500" dirty="0">
                <a:solidFill>
                  <a:schemeClr val="accent5"/>
                </a:solidFill>
              </a:rPr>
              <a:t>PyCaret no recolecta datos crudos (SQL, scraping, sensores) ni reemplaza el entendimiento del problema de negocio.</a:t>
            </a:r>
            <a:endParaRPr lang="en-US" sz="15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Cuándo usarla y cuándo no</a:t>
            </a:r>
            <a:endParaRPr lang="en-US" sz="3000" dirty="0"/>
          </a:p>
        </p:txBody>
      </p:sp>
      <p:sp>
        <p:nvSpPr>
          <p:cNvPr id="3" name="tarjeta Conviene usarla"/>
          <p:cNvSpPr/>
          <p:nvPr/>
        </p:nvSpPr>
        <p:spPr>
          <a:xfrm>
            <a:off x="548640" y="1371600"/>
            <a:ext cx="5440680" cy="4663440"/>
          </a:xfrm>
          <a:prstGeom prst="roundRect">
            <a:avLst>
              <a:gd name="adj" fmla="val 1961"/>
            </a:avLst>
          </a:prstGeom>
          <a:solidFill>
            <a:schemeClr val="bg2"/>
          </a:solidFill>
          <a:ln/>
        </p:spPr>
      </p:sp>
      <p:sp>
        <p:nvSpPr>
          <p:cNvPr id="4" name="icono Conviene usarla fondo"/>
          <p:cNvSpPr/>
          <p:nvPr/>
        </p:nvSpPr>
        <p:spPr>
          <a:xfrm>
            <a:off x="822960" y="1645920"/>
            <a:ext cx="640080" cy="640080"/>
          </a:xfrm>
          <a:prstGeom prst="ellipse">
            <a:avLst/>
          </a:prstGeom>
          <a:solidFill>
            <a:srgbClr val="2F8F83"/>
          </a:solidFill>
          <a:ln/>
        </p:spPr>
      </p:sp>
      <p:pic>
        <p:nvPicPr>
          <p:cNvPr id="5" name="icono Conviene usarla" descr="icono Conviene usarla">    </p:cNvPr>
          <p:cNvPicPr>
            <a:picLocks noChangeAspect="1"/>
          </p:cNvPicPr>
          <p:nvPr/>
        </p:nvPicPr>
        <p:blipFill>
          <a:blip r:embed="rId1"/>
          <a:stretch>
            <a:fillRect/>
          </a:stretch>
        </p:blipFill>
        <p:spPr>
          <a:xfrm>
            <a:off x="989381" y="1812341"/>
            <a:ext cx="307238" cy="307238"/>
          </a:xfrm>
          <a:prstGeom prst="rect">
            <a:avLst/>
          </a:prstGeom>
        </p:spPr>
      </p:pic>
      <p:sp>
        <p:nvSpPr>
          <p:cNvPr id="6" name="título Conviene usarla"/>
          <p:cNvSpPr txBox="1"/>
          <p:nvPr/>
        </p:nvSpPr>
        <p:spPr>
          <a:xfrm>
            <a:off x="1645920" y="1645920"/>
            <a:ext cx="4023360" cy="64008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Conviene usarla</a:t>
            </a:r>
            <a:endParaRPr lang="en-US" sz="2200" dirty="0"/>
          </a:p>
        </p:txBody>
      </p:sp>
      <p:sp>
        <p:nvSpPr>
          <p:cNvPr id="7" name="lista Conviene usarla"/>
          <p:cNvSpPr txBox="1"/>
          <p:nvPr/>
        </p:nvSpPr>
        <p:spPr>
          <a:xfrm>
            <a:off x="868680" y="2560320"/>
            <a:ext cx="4800600" cy="329184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Prototipos y líneas base: probar una docena de algoritmos en datos tabulares o series de tiempo.</a:t>
            </a:r>
            <a:endParaRPr lang="en-US" sz="1800" dirty="0"/>
          </a:p>
          <a:p>
            <a:pPr marL="342900" indent="-342900">
              <a:spcAft>
                <a:spcPts val="1400"/>
              </a:spcAft>
              <a:buSzPct val="100000"/>
              <a:buChar char="•"/>
            </a:pPr>
            <a:r>
              <a:rPr lang="en-US" sz="1800" dirty="0">
                <a:solidFill>
                  <a:schemeClr val="tx1"/>
                </a:solidFill>
              </a:rPr>
              <a:t>Estudiantes y analistas que conocen la teoría pero no dominan scikit-learn.</a:t>
            </a:r>
            <a:endParaRPr lang="en-US" sz="1800" dirty="0"/>
          </a:p>
          <a:p>
            <a:pPr marL="342900" indent="-342900">
              <a:spcAft>
                <a:spcPts val="1400"/>
              </a:spcAft>
              <a:buSzPct val="100000"/>
              <a:buChar char="•"/>
            </a:pPr>
            <a:r>
              <a:rPr lang="en-US" sz="1800" dirty="0">
                <a:solidFill>
                  <a:schemeClr val="tx1"/>
                </a:solidFill>
              </a:rPr>
              <a:t>Tareas estándar de clasificación, regresión, clustering o anomalías.</a:t>
            </a:r>
            <a:endParaRPr lang="en-US" sz="1800" dirty="0"/>
          </a:p>
        </p:txBody>
      </p:sp>
      <p:sp>
        <p:nvSpPr>
          <p:cNvPr id="8" name="tarjeta No conviene usarla"/>
          <p:cNvSpPr/>
          <p:nvPr/>
        </p:nvSpPr>
        <p:spPr>
          <a:xfrm>
            <a:off x="6199632" y="1371600"/>
            <a:ext cx="5440680" cy="4663440"/>
          </a:xfrm>
          <a:prstGeom prst="roundRect">
            <a:avLst>
              <a:gd name="adj" fmla="val 1961"/>
            </a:avLst>
          </a:prstGeom>
          <a:solidFill>
            <a:schemeClr val="bg2"/>
          </a:solidFill>
          <a:ln/>
        </p:spPr>
      </p:sp>
      <p:sp>
        <p:nvSpPr>
          <p:cNvPr id="9" name="icono No conviene usarla fondo"/>
          <p:cNvSpPr/>
          <p:nvPr/>
        </p:nvSpPr>
        <p:spPr>
          <a:xfrm>
            <a:off x="6473952" y="1645920"/>
            <a:ext cx="640080" cy="640080"/>
          </a:xfrm>
          <a:prstGeom prst="ellipse">
            <a:avLst/>
          </a:prstGeom>
          <a:solidFill>
            <a:srgbClr val="C44E52"/>
          </a:solidFill>
          <a:ln/>
        </p:spPr>
      </p:sp>
      <p:pic>
        <p:nvPicPr>
          <p:cNvPr id="10" name="icono No conviene usarla" descr="icono No conviene usarla">    </p:cNvPr>
          <p:cNvPicPr>
            <a:picLocks noChangeAspect="1"/>
          </p:cNvPicPr>
          <p:nvPr/>
        </p:nvPicPr>
        <p:blipFill>
          <a:blip r:embed="rId2"/>
          <a:stretch>
            <a:fillRect/>
          </a:stretch>
        </p:blipFill>
        <p:spPr>
          <a:xfrm>
            <a:off x="6640373" y="1812341"/>
            <a:ext cx="307238" cy="307238"/>
          </a:xfrm>
          <a:prstGeom prst="rect">
            <a:avLst/>
          </a:prstGeom>
        </p:spPr>
      </p:pic>
      <p:sp>
        <p:nvSpPr>
          <p:cNvPr id="11" name="título No conviene usarla"/>
          <p:cNvSpPr txBox="1"/>
          <p:nvPr/>
        </p:nvSpPr>
        <p:spPr>
          <a:xfrm>
            <a:off x="7296912" y="1645920"/>
            <a:ext cx="4023360" cy="64008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No conviene usarla</a:t>
            </a:r>
            <a:endParaRPr lang="en-US" sz="2200" dirty="0"/>
          </a:p>
        </p:txBody>
      </p:sp>
      <p:sp>
        <p:nvSpPr>
          <p:cNvPr id="12" name="lista No conviene usarla"/>
          <p:cNvSpPr txBox="1"/>
          <p:nvPr/>
        </p:nvSpPr>
        <p:spPr>
          <a:xfrm>
            <a:off x="6519672" y="2560320"/>
            <a:ext cx="4800600" cy="329184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Si necesitas reglas de preprocesamiento distintas por columna: PyCaret impone valores por defecto.</a:t>
            </a:r>
            <a:endParaRPr lang="en-US" sz="1800" dirty="0"/>
          </a:p>
          <a:p>
            <a:pPr marL="342900" indent="-342900">
              <a:spcAft>
                <a:spcPts val="1400"/>
              </a:spcAft>
              <a:buSzPct val="100000"/>
              <a:buChar char="•"/>
            </a:pPr>
            <a:r>
              <a:rPr lang="en-US" sz="1800" dirty="0">
                <a:solidFill>
                  <a:schemeClr val="tx1"/>
                </a:solidFill>
              </a:rPr>
              <a:t>Si el proyecto ya usa PyCaret 3.x: 4.0 no es compatible y no se pueden mezclar.</a:t>
            </a:r>
            <a:endParaRPr lang="en-US" sz="1800" dirty="0"/>
          </a:p>
          <a:p>
            <a:pPr marL="342900" indent="-342900">
              <a:spcAft>
                <a:spcPts val="1400"/>
              </a:spcAft>
              <a:buSzPct val="100000"/>
              <a:buChar char="•"/>
            </a:pPr>
            <a:r>
              <a:rPr lang="en-US" sz="1800" dirty="0">
                <a:solidFill>
                  <a:schemeClr val="tx1"/>
                </a:solidFill>
              </a:rPr>
              <a:t>Si los datos son imágenes, audio o video: está pensada para datos tabulares y series.</a:t>
            </a:r>
            <a:endParaRPr lang="en-US" sz="18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Instalación y primeros pasos</a:t>
            </a:r>
            <a:endParaRPr lang="en-US" sz="3000" dirty="0"/>
          </a:p>
        </p:txBody>
      </p:sp>
      <p:sp>
        <p:nvSpPr>
          <p:cNvPr id="3" name="bloque de código"/>
          <p:cNvSpPr/>
          <p:nvPr/>
        </p:nvSpPr>
        <p:spPr>
          <a:xfrm>
            <a:off x="548640" y="1371600"/>
            <a:ext cx="6126480" cy="3200400"/>
          </a:xfrm>
          <a:prstGeom prst="roundRect">
            <a:avLst>
              <a:gd name="adj" fmla="val 2857"/>
            </a:avLst>
          </a:prstGeom>
          <a:solidFill>
            <a:schemeClr val="tx2"/>
          </a:solidFill>
          <a:ln/>
        </p:spPr>
      </p:sp>
      <p:sp>
        <p:nvSpPr>
          <p:cNvPr id="4" name="comandos de instalación"/>
          <p:cNvSpPr txBox="1"/>
          <p:nvPr/>
        </p:nvSpPr>
        <p:spPr>
          <a:xfrm>
            <a:off x="777240" y="1554480"/>
            <a:ext cx="5760720" cy="2834640"/>
          </a:xfrm>
          <a:prstGeom prst="rect">
            <a:avLst/>
          </a:prstGeom>
          <a:noFill/>
          <a:ln/>
        </p:spPr>
        <p:txBody>
          <a:bodyPr wrap="square" lIns="0" tIns="0" rIns="0" bIns="0" rtlCol="0" anchor="ctr"/>
          <a:lstStyle/>
          <a:p>
            <a:pPr indent="0" marL="0">
              <a:buNone/>
            </a:pPr>
            <a:r>
              <a:rPr lang="en-US" sz="1300" dirty="0">
                <a:solidFill>
                  <a:srgbClr val="9DB4D8"/>
                </a:solidFill>
                <a:latin typeface="Courier New" pitchFamily="34" charset="0"/>
                <a:ea typeface="Courier New" pitchFamily="34" charset="-122"/>
                <a:cs typeface="Courier New" pitchFamily="34" charset="-120"/>
              </a:rPr>
              <a:t># Instalación estándar (Python 3.9 a 3.11)</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pip install pycaret</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9DB4D8"/>
                </a:solidFill>
                <a:latin typeface="Courier New" pitchFamily="34" charset="0"/>
                <a:ea typeface="Courier New" pitchFamily="34" charset="-122"/>
                <a:cs typeface="Courier New" pitchFamily="34" charset="-120"/>
              </a:rPr>
              <a:t># Colab usa Python 3.13: entorno aislado</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pip install uv</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uv venv --python 3.11 /content/pc</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uv pip install --python /content/pc/bin/python pycaret</a:t>
            </a:r>
            <a:endParaRPr lang="en-US" sz="1300" dirty="0"/>
          </a:p>
        </p:txBody>
      </p:sp>
      <p:sp>
        <p:nvSpPr>
          <p:cNvPr id="5" name="título versiones"/>
          <p:cNvSpPr txBox="1"/>
          <p:nvPr/>
        </p:nvSpPr>
        <p:spPr>
          <a:xfrm>
            <a:off x="6949440" y="1371600"/>
            <a:ext cx="466344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Versiones</a:t>
            </a:r>
            <a:endParaRPr lang="en-US" sz="1800" dirty="0"/>
          </a:p>
        </p:txBody>
      </p:sp>
      <p:graphicFrame>
        <p:nvGraphicFramePr>
          <p:cNvPr id="7" name="tabla de versiones"/>
          <p:cNvGraphicFramePr>
            <a:graphicFrameLocks noGrp="1"/>
          </p:cNvGraphicFramePr>
          <p:nvPr>
            <p:extLst>
              <p:ext uri="{D42A27DB-BD31-4B8C-83A1-F6EECF244321}">
                <p14:modId xmlns:p14="http://schemas.microsoft.com/office/powerpoint/2010/main" val="1579011935"/>
              </p:ext>
            </p:extLst>
          </p:nvPr>
        </p:nvGraphicFramePr>
        <p:xfrm>
          <a:off x="6949440" y="1874520"/>
          <a:ext cx="4663440" cy="914400"/>
        </p:xfrm>
        <a:graphic>
          <a:graphicData uri="http://schemas.openxmlformats.org/drawingml/2006/table">
            <a:tbl>
              <a:tblPr/>
              <a:tblGrid>
                <a:gridCol w="1097280"/>
                <a:gridCol w="1280160"/>
                <a:gridCol w="2286000"/>
              </a:tblGrid>
              <a:tr h="502920">
                <a:tc>
                  <a:txBody>
                    <a:bodyPr/>
                    <a:lstStyle/>
                    <a:p>
                      <a:pPr indent="0" marL="0">
                        <a:buNone/>
                      </a:pPr>
                      <a:r>
                        <a:rPr lang="en-US" sz="1300" b="1" dirty="0">
                          <a:solidFill>
                            <a:schemeClr val="bg1"/>
                          </a:solidFill>
                        </a:rPr>
                        <a:t>Versión</a:t>
                      </a:r>
                      <a:endParaRPr lang="en-US" sz="1300" dirty="0"/>
                    </a:p>
                  </a:txBody>
                  <a:tcPr marL="91440" marR="91440" marT="45720" marB="45720" anchor="ctr">
                    <a:lnL w="12700" cap="flat" cmpd="sng" algn="ctr">
                      <a:solidFill>
                        <a:srgbClr val="EEF2F8"/>
                      </a:solidFill>
                      <a:prstDash val="solid"/>
                      <a:round/>
                      <a:headEnd type="none" w="med" len="med"/>
                      <a:tailEnd type="none" w="med" len="med"/>
                    </a:lnL>
                    <a:lnR w="12700" cap="flat" cmpd="sng" algn="ctr">
                      <a:solidFill>
                        <a:srgbClr val="EEF2F8"/>
                      </a:solidFill>
                      <a:prstDash val="solid"/>
                      <a:round/>
                      <a:headEnd type="none" w="med" len="med"/>
                      <a:tailEnd type="none" w="med" len="med"/>
                    </a:lnR>
                    <a:lnT w="12700" cap="flat" cmpd="sng" algn="ctr">
                      <a:solidFill>
                        <a:srgbClr val="EEF2F8"/>
                      </a:solidFill>
                      <a:prstDash val="solid"/>
                      <a:round/>
                      <a:headEnd type="none" w="med" len="med"/>
                      <a:tailEnd type="none" w="med" len="med"/>
                    </a:lnT>
                    <a:lnB w="12700" cap="flat" cmpd="sng" algn="ctr">
                      <a:solidFill>
                        <a:srgbClr val="EEF2F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Python</a:t>
                      </a:r>
                      <a:endParaRPr lang="en-US" sz="1300" dirty="0"/>
                    </a:p>
                  </a:txBody>
                  <a:tcPr marL="91440" marR="91440" marT="45720" marB="45720" anchor="ctr">
                    <a:lnL w="12700" cap="flat" cmpd="sng" algn="ctr">
                      <a:solidFill>
                        <a:srgbClr val="EEF2F8"/>
                      </a:solidFill>
                      <a:prstDash val="solid"/>
                      <a:round/>
                      <a:headEnd type="none" w="med" len="med"/>
                      <a:tailEnd type="none" w="med" len="med"/>
                    </a:lnL>
                    <a:lnR w="12700" cap="flat" cmpd="sng" algn="ctr">
                      <a:solidFill>
                        <a:srgbClr val="EEF2F8"/>
                      </a:solidFill>
                      <a:prstDash val="solid"/>
                      <a:round/>
                      <a:headEnd type="none" w="med" len="med"/>
                      <a:tailEnd type="none" w="med" len="med"/>
                    </a:lnR>
                    <a:lnT w="12700" cap="flat" cmpd="sng" algn="ctr">
                      <a:solidFill>
                        <a:srgbClr val="EEF2F8"/>
                      </a:solidFill>
                      <a:prstDash val="solid"/>
                      <a:round/>
                      <a:headEnd type="none" w="med" len="med"/>
                      <a:tailEnd type="none" w="med" len="med"/>
                    </a:lnT>
                    <a:lnB w="12700" cap="flat" cmpd="sng" algn="ctr">
                      <a:solidFill>
                        <a:srgbClr val="EEF2F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Estado</a:t>
                      </a:r>
                      <a:endParaRPr lang="en-US" sz="1300" dirty="0"/>
                    </a:p>
                  </a:txBody>
                  <a:tcPr marL="91440" marR="91440" marT="45720" marB="45720" anchor="ctr">
                    <a:lnL w="12700" cap="flat" cmpd="sng" algn="ctr">
                      <a:solidFill>
                        <a:srgbClr val="EEF2F8"/>
                      </a:solidFill>
                      <a:prstDash val="solid"/>
                      <a:round/>
                      <a:headEnd type="none" w="med" len="med"/>
                      <a:tailEnd type="none" w="med" len="med"/>
                    </a:lnL>
                    <a:lnR w="12700" cap="flat" cmpd="sng" algn="ctr">
                      <a:solidFill>
                        <a:srgbClr val="EEF2F8"/>
                      </a:solidFill>
                      <a:prstDash val="solid"/>
                      <a:round/>
                      <a:headEnd type="none" w="med" len="med"/>
                      <a:tailEnd type="none" w="med" len="med"/>
                    </a:lnR>
                    <a:lnT w="12700" cap="flat" cmpd="sng" algn="ctr">
                      <a:solidFill>
                        <a:srgbClr val="EEF2F8"/>
                      </a:solidFill>
                      <a:prstDash val="solid"/>
                      <a:round/>
                      <a:headEnd type="none" w="med" len="med"/>
                      <a:tailEnd type="none" w="med" len="med"/>
                    </a:lnT>
                    <a:lnB w="12700" cap="flat" cmpd="sng" algn="ctr">
                      <a:solidFill>
                        <a:srgbClr val="EEF2F8"/>
                      </a:solidFill>
                      <a:prstDash val="solid"/>
                      <a:round/>
                      <a:headEnd type="none" w="med" len="med"/>
                      <a:tailEnd type="none" w="med" len="med"/>
                    </a:lnB>
                    <a:solidFill>
                      <a:schemeClr val="tx2"/>
                    </a:solidFill>
                  </a:tcPr>
                </a:tc>
              </a:tr>
              <a:tr h="502920">
                <a:tc>
                  <a:txBody>
                    <a:bodyPr/>
                    <a:lstStyle/>
                    <a:p>
                      <a:pPr indent="0" marL="0">
                        <a:buNone/>
                      </a:pPr>
                      <a:r>
                        <a:rPr lang="en-US" sz="1300" b="1" dirty="0">
                          <a:solidFill>
                            <a:schemeClr val="tx1"/>
                          </a:solidFill>
                        </a:rPr>
                        <a:t>3.3.2</a:t>
                      </a:r>
                      <a:endParaRPr lang="en-US" sz="1300" dirty="0"/>
                    </a:p>
                  </a:txBody>
                  <a:tcPr marL="91440" marR="91440" marT="45720" marB="45720" anchor="ctr">
                    <a:lnL w="12700" cap="flat" cmpd="sng" algn="ctr">
                      <a:solidFill>
                        <a:srgbClr val="EEF2F8"/>
                      </a:solidFill>
                      <a:prstDash val="solid"/>
                      <a:round/>
                      <a:headEnd type="none" w="med" len="med"/>
                      <a:tailEnd type="none" w="med" len="med"/>
                    </a:lnL>
                    <a:lnR w="12700" cap="flat" cmpd="sng" algn="ctr">
                      <a:solidFill>
                        <a:srgbClr val="EEF2F8"/>
                      </a:solidFill>
                      <a:prstDash val="solid"/>
                      <a:round/>
                      <a:headEnd type="none" w="med" len="med"/>
                      <a:tailEnd type="none" w="med" len="med"/>
                    </a:lnR>
                    <a:lnT w="12700" cap="flat" cmpd="sng" algn="ctr">
                      <a:solidFill>
                        <a:srgbClr val="EEF2F8"/>
                      </a:solidFill>
                      <a:prstDash val="solid"/>
                      <a:round/>
                      <a:headEnd type="none" w="med" len="med"/>
                      <a:tailEnd type="none" w="med" len="med"/>
                    </a:lnT>
                    <a:lnB w="12700" cap="flat" cmpd="sng" algn="ctr">
                      <a:solidFill>
                        <a:srgbClr val="EEF2F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3.9 a 3.11</a:t>
                      </a:r>
                      <a:endParaRPr lang="en-US" sz="1300" dirty="0"/>
                    </a:p>
                  </a:txBody>
                  <a:tcPr marL="91440" marR="91440" marT="45720" marB="45720" anchor="ctr">
                    <a:lnL w="12700" cap="flat" cmpd="sng" algn="ctr">
                      <a:solidFill>
                        <a:srgbClr val="EEF2F8"/>
                      </a:solidFill>
                      <a:prstDash val="solid"/>
                      <a:round/>
                      <a:headEnd type="none" w="med" len="med"/>
                      <a:tailEnd type="none" w="med" len="med"/>
                    </a:lnL>
                    <a:lnR w="12700" cap="flat" cmpd="sng" algn="ctr">
                      <a:solidFill>
                        <a:srgbClr val="EEF2F8"/>
                      </a:solidFill>
                      <a:prstDash val="solid"/>
                      <a:round/>
                      <a:headEnd type="none" w="med" len="med"/>
                      <a:tailEnd type="none" w="med" len="med"/>
                    </a:lnR>
                    <a:lnT w="12700" cap="flat" cmpd="sng" algn="ctr">
                      <a:solidFill>
                        <a:srgbClr val="EEF2F8"/>
                      </a:solidFill>
                      <a:prstDash val="solid"/>
                      <a:round/>
                      <a:headEnd type="none" w="med" len="med"/>
                      <a:tailEnd type="none" w="med" len="med"/>
                    </a:lnT>
                    <a:lnB w="12700" cap="flat" cmpd="sng" algn="ctr">
                      <a:solidFill>
                        <a:srgbClr val="EEF2F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Estable (la que usamos)</a:t>
                      </a:r>
                      <a:endParaRPr lang="en-US" sz="1300" dirty="0"/>
                    </a:p>
                  </a:txBody>
                  <a:tcPr marL="91440" marR="91440" marT="45720" marB="45720" anchor="ctr">
                    <a:lnL w="12700" cap="flat" cmpd="sng" algn="ctr">
                      <a:solidFill>
                        <a:srgbClr val="EEF2F8"/>
                      </a:solidFill>
                      <a:prstDash val="solid"/>
                      <a:round/>
                      <a:headEnd type="none" w="med" len="med"/>
                      <a:tailEnd type="none" w="med" len="med"/>
                    </a:lnL>
                    <a:lnR w="12700" cap="flat" cmpd="sng" algn="ctr">
                      <a:solidFill>
                        <a:srgbClr val="EEF2F8"/>
                      </a:solidFill>
                      <a:prstDash val="solid"/>
                      <a:round/>
                      <a:headEnd type="none" w="med" len="med"/>
                      <a:tailEnd type="none" w="med" len="med"/>
                    </a:lnR>
                    <a:lnT w="12700" cap="flat" cmpd="sng" algn="ctr">
                      <a:solidFill>
                        <a:srgbClr val="EEF2F8"/>
                      </a:solidFill>
                      <a:prstDash val="solid"/>
                      <a:round/>
                      <a:headEnd type="none" w="med" len="med"/>
                      <a:tailEnd type="none" w="med" len="med"/>
                    </a:lnT>
                    <a:lnB w="12700" cap="flat" cmpd="sng" algn="ctr">
                      <a:solidFill>
                        <a:srgbClr val="EEF2F8"/>
                      </a:solidFill>
                      <a:prstDash val="solid"/>
                      <a:round/>
                      <a:headEnd type="none" w="med" len="med"/>
                      <a:tailEnd type="none" w="med" len="med"/>
                    </a:lnB>
                    <a:solidFill>
                      <a:schemeClr val="bg2"/>
                    </a:solidFill>
                  </a:tcPr>
                </a:tc>
              </a:tr>
              <a:tr h="502920">
                <a:tc>
                  <a:txBody>
                    <a:bodyPr/>
                    <a:lstStyle/>
                    <a:p>
                      <a:pPr indent="0" marL="0">
                        <a:buNone/>
                      </a:pPr>
                      <a:r>
                        <a:rPr lang="en-US" sz="1300" b="1" dirty="0">
                          <a:solidFill>
                            <a:schemeClr val="tx1"/>
                          </a:solidFill>
                        </a:rPr>
                        <a:t>4.0.0a8</a:t>
                      </a:r>
                      <a:endParaRPr lang="en-US" sz="1300" dirty="0"/>
                    </a:p>
                  </a:txBody>
                  <a:tcPr marL="91440" marR="91440" marT="45720" marB="45720" anchor="ctr">
                    <a:lnL w="12700" cap="flat" cmpd="sng" algn="ctr">
                      <a:solidFill>
                        <a:srgbClr val="EEF2F8"/>
                      </a:solidFill>
                      <a:prstDash val="solid"/>
                      <a:round/>
                      <a:headEnd type="none" w="med" len="med"/>
                      <a:tailEnd type="none" w="med" len="med"/>
                    </a:lnL>
                    <a:lnR w="12700" cap="flat" cmpd="sng" algn="ctr">
                      <a:solidFill>
                        <a:srgbClr val="EEF2F8"/>
                      </a:solidFill>
                      <a:prstDash val="solid"/>
                      <a:round/>
                      <a:headEnd type="none" w="med" len="med"/>
                      <a:tailEnd type="none" w="med" len="med"/>
                    </a:lnR>
                    <a:lnT w="12700" cap="flat" cmpd="sng" algn="ctr">
                      <a:solidFill>
                        <a:srgbClr val="EEF2F8"/>
                      </a:solidFill>
                      <a:prstDash val="solid"/>
                      <a:round/>
                      <a:headEnd type="none" w="med" len="med"/>
                      <a:tailEnd type="none" w="med" len="med"/>
                    </a:lnT>
                    <a:lnB w="12700" cap="flat" cmpd="sng" algn="ctr">
                      <a:solidFill>
                        <a:srgbClr val="EEF2F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3.11 a 3.13</a:t>
                      </a:r>
                      <a:endParaRPr lang="en-US" sz="1300" dirty="0"/>
                    </a:p>
                  </a:txBody>
                  <a:tcPr marL="91440" marR="91440" marT="45720" marB="45720" anchor="ctr">
                    <a:lnL w="12700" cap="flat" cmpd="sng" algn="ctr">
                      <a:solidFill>
                        <a:srgbClr val="EEF2F8"/>
                      </a:solidFill>
                      <a:prstDash val="solid"/>
                      <a:round/>
                      <a:headEnd type="none" w="med" len="med"/>
                      <a:tailEnd type="none" w="med" len="med"/>
                    </a:lnL>
                    <a:lnR w="12700" cap="flat" cmpd="sng" algn="ctr">
                      <a:solidFill>
                        <a:srgbClr val="EEF2F8"/>
                      </a:solidFill>
                      <a:prstDash val="solid"/>
                      <a:round/>
                      <a:headEnd type="none" w="med" len="med"/>
                      <a:tailEnd type="none" w="med" len="med"/>
                    </a:lnR>
                    <a:lnT w="12700" cap="flat" cmpd="sng" algn="ctr">
                      <a:solidFill>
                        <a:srgbClr val="EEF2F8"/>
                      </a:solidFill>
                      <a:prstDash val="solid"/>
                      <a:round/>
                      <a:headEnd type="none" w="med" len="med"/>
                      <a:tailEnd type="none" w="med" len="med"/>
                    </a:lnT>
                    <a:lnB w="12700" cap="flat" cmpd="sng" algn="ctr">
                      <a:solidFill>
                        <a:srgbClr val="EEF2F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Pre-lanzamiento (--pre)</a:t>
                      </a:r>
                      <a:endParaRPr lang="en-US" sz="1300" dirty="0"/>
                    </a:p>
                  </a:txBody>
                  <a:tcPr marL="91440" marR="91440" marT="45720" marB="45720" anchor="ctr">
                    <a:lnL w="12700" cap="flat" cmpd="sng" algn="ctr">
                      <a:solidFill>
                        <a:srgbClr val="EEF2F8"/>
                      </a:solidFill>
                      <a:prstDash val="solid"/>
                      <a:round/>
                      <a:headEnd type="none" w="med" len="med"/>
                      <a:tailEnd type="none" w="med" len="med"/>
                    </a:lnL>
                    <a:lnR w="12700" cap="flat" cmpd="sng" algn="ctr">
                      <a:solidFill>
                        <a:srgbClr val="EEF2F8"/>
                      </a:solidFill>
                      <a:prstDash val="solid"/>
                      <a:round/>
                      <a:headEnd type="none" w="med" len="med"/>
                      <a:tailEnd type="none" w="med" len="med"/>
                    </a:lnR>
                    <a:lnT w="12700" cap="flat" cmpd="sng" algn="ctr">
                      <a:solidFill>
                        <a:srgbClr val="EEF2F8"/>
                      </a:solidFill>
                      <a:prstDash val="solid"/>
                      <a:round/>
                      <a:headEnd type="none" w="med" len="med"/>
                      <a:tailEnd type="none" w="med" len="med"/>
                    </a:lnT>
                    <a:lnB w="12700" cap="flat" cmpd="sng" algn="ctr">
                      <a:solidFill>
                        <a:srgbClr val="EEF2F8"/>
                      </a:solidFill>
                      <a:prstDash val="solid"/>
                      <a:round/>
                      <a:headEnd type="none" w="med" len="med"/>
                      <a:tailEnd type="none" w="med" len="med"/>
                    </a:lnB>
                    <a:solidFill>
                      <a:schemeClr val="bg2"/>
                    </a:solidFill>
                  </a:tcPr>
                </a:tc>
              </a:tr>
            </a:tbl>
          </a:graphicData>
        </a:graphic>
      </p:graphicFrame>
      <p:sp>
        <p:nvSpPr>
          <p:cNvPr id="7" name="primer ejemplo"/>
          <p:cNvSpPr txBox="1"/>
          <p:nvPr/>
        </p:nvSpPr>
        <p:spPr>
          <a:xfrm>
            <a:off x="6949440" y="3749040"/>
            <a:ext cx="4663440" cy="822960"/>
          </a:xfrm>
          <a:prstGeom prst="rect">
            <a:avLst/>
          </a:prstGeom>
          <a:noFill/>
          <a:ln/>
        </p:spPr>
        <p:txBody>
          <a:bodyPr wrap="square" lIns="0" tIns="0" rIns="0" bIns="0" rtlCol="0" anchor="t"/>
          <a:lstStyle/>
          <a:p>
            <a:pPr indent="0" marL="0">
              <a:buNone/>
            </a:pPr>
            <a:r>
              <a:rPr lang="en-US" sz="1400" dirty="0">
                <a:solidFill>
                  <a:schemeClr val="accent5"/>
                </a:solidFill>
              </a:rPr>
              <a:t>Nuestro primer ejemplo: setup(), compare_models(), tune_model() y predict_model() sobre el mismo split que scikit-learn.</a:t>
            </a:r>
            <a:endParaRPr lang="en-US" sz="1400" dirty="0"/>
          </a:p>
        </p:txBody>
      </p:sp>
      <p:sp>
        <p:nvSpPr>
          <p:cNvPr id="8" name="problema real de instalación"/>
          <p:cNvSpPr/>
          <p:nvPr/>
        </p:nvSpPr>
        <p:spPr>
          <a:xfrm>
            <a:off x="548640" y="4846320"/>
            <a:ext cx="11064240" cy="1280160"/>
          </a:xfrm>
          <a:prstGeom prst="roundRect">
            <a:avLst>
              <a:gd name="adj" fmla="val 7143"/>
            </a:avLst>
          </a:prstGeom>
          <a:solidFill>
            <a:schemeClr val="bg2"/>
          </a:solidFill>
          <a:ln/>
        </p:spPr>
      </p:sp>
      <p:sp>
        <p:nvSpPr>
          <p:cNvPr id="9" name="icono advertencia fondo"/>
          <p:cNvSpPr/>
          <p:nvPr/>
        </p:nvSpPr>
        <p:spPr>
          <a:xfrm>
            <a:off x="777240" y="5120640"/>
            <a:ext cx="731520" cy="731520"/>
          </a:xfrm>
          <a:prstGeom prst="ellipse">
            <a:avLst/>
          </a:prstGeom>
          <a:solidFill>
            <a:srgbClr val="D9A441"/>
          </a:solidFill>
          <a:ln/>
        </p:spPr>
      </p:sp>
      <p:pic>
        <p:nvPicPr>
          <p:cNvPr id="10" name="icono advertencia" descr="icono advertencia">    </p:cNvPr>
          <p:cNvPicPr>
            <a:picLocks noChangeAspect="1"/>
          </p:cNvPicPr>
          <p:nvPr/>
        </p:nvPicPr>
        <p:blipFill>
          <a:blip r:embed="rId1"/>
          <a:stretch>
            <a:fillRect/>
          </a:stretch>
        </p:blipFill>
        <p:spPr>
          <a:xfrm>
            <a:off x="967435" y="5310835"/>
            <a:ext cx="351130" cy="351130"/>
          </a:xfrm>
          <a:prstGeom prst="rect">
            <a:avLst/>
          </a:prstGeom>
        </p:spPr>
      </p:pic>
      <p:sp>
        <p:nvSpPr>
          <p:cNvPr id="11" name="texto del problema de instalación"/>
          <p:cNvSpPr txBox="1"/>
          <p:nvPr/>
        </p:nvSpPr>
        <p:spPr>
          <a:xfrm>
            <a:off x="1737360" y="4937760"/>
            <a:ext cx="9692640" cy="1097280"/>
          </a:xfrm>
          <a:prstGeom prst="rect">
            <a:avLst/>
          </a:prstGeom>
          <a:noFill/>
          <a:ln/>
        </p:spPr>
        <p:txBody>
          <a:bodyPr wrap="square" lIns="0" tIns="0" rIns="0" bIns="0" rtlCol="0" anchor="ctr"/>
          <a:lstStyle/>
          <a:p>
            <a:pPr indent="0" marL="0">
              <a:buNone/>
            </a:pPr>
            <a:r>
              <a:rPr lang="en-US" sz="1400" b="1" dirty="0">
                <a:solidFill>
                  <a:schemeClr val="tx2"/>
                </a:solidFill>
              </a:rPr>
              <a:t>Problema que tuvimos: </a:t>
            </a:r>
            <a:pPr indent="0" marL="0">
              <a:buNone/>
            </a:pPr>
            <a:r>
              <a:rPr lang="en-US" sz="1400" dirty="0">
                <a:solidFill>
                  <a:schemeClr val="tx1"/>
                </a:solidFill>
              </a:rPr>
              <a:t>en Colab (Python 3.13), pip install pycaret falló con “metadata-generation-failed”, porque la versión estable solo admite hasta Python 3.11. La solución fue un entorno aislado con Python 3.11 creado con uv, que ejecuta un script con los mismos train.csv y test.csv.</a:t>
            </a:r>
            <a:endParaRPr lang="en-US" sz="14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Cuatro funciones, un experimento completo</a:t>
            </a:r>
            <a:endParaRPr lang="en-US" sz="3000" dirty="0"/>
          </a:p>
        </p:txBody>
      </p:sp>
      <p:sp>
        <p:nvSpPr>
          <p:cNvPr id="3" name="tarjeta setup()"/>
          <p:cNvSpPr/>
          <p:nvPr/>
        </p:nvSpPr>
        <p:spPr>
          <a:xfrm>
            <a:off x="548640" y="1371600"/>
            <a:ext cx="5440680" cy="2148840"/>
          </a:xfrm>
          <a:prstGeom prst="roundRect">
            <a:avLst>
              <a:gd name="adj" fmla="val 4255"/>
            </a:avLst>
          </a:prstGeom>
          <a:solidFill>
            <a:schemeClr val="bg2"/>
          </a:solidFill>
          <a:ln/>
        </p:spPr>
      </p:sp>
      <p:sp>
        <p:nvSpPr>
          <p:cNvPr id="4" name="número 1"/>
          <p:cNvSpPr/>
          <p:nvPr/>
        </p:nvSpPr>
        <p:spPr>
          <a:xfrm>
            <a:off x="777240" y="1600200"/>
            <a:ext cx="457200" cy="457200"/>
          </a:xfrm>
          <a:prstGeom prst="ellipse">
            <a:avLst/>
          </a:prstGeom>
          <a:solidFill>
            <a:schemeClr val="accent1"/>
          </a:solidFill>
          <a:ln/>
        </p:spPr>
      </p:sp>
      <p:sp>
        <p:nvSpPr>
          <p:cNvPr id="5" name="texto número 1"/>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nombre setup()"/>
          <p:cNvSpPr txBox="1"/>
          <p:nvPr/>
        </p:nvSpPr>
        <p:spPr>
          <a:xfrm>
            <a:off x="1417320" y="1600200"/>
            <a:ext cx="4297680" cy="457200"/>
          </a:xfrm>
          <a:prstGeom prst="rect">
            <a:avLst/>
          </a:prstGeom>
          <a:noFill/>
          <a:ln/>
        </p:spPr>
        <p:txBody>
          <a:bodyPr wrap="square" lIns="0" tIns="0" rIns="0" bIns="0" rtlCol="0" anchor="ctr"/>
          <a:lstStyle/>
          <a:p>
            <a:pPr indent="0" marL="0">
              <a:buNone/>
            </a:pPr>
            <a:r>
              <a:rPr lang="en-US" sz="2000" b="1" dirty="0">
                <a:solidFill>
                  <a:schemeClr val="tx2"/>
                </a:solidFill>
                <a:latin typeface="Courier New" pitchFamily="34" charset="0"/>
                <a:ea typeface="Courier New" pitchFamily="34" charset="-122"/>
                <a:cs typeface="Courier New" pitchFamily="34" charset="-120"/>
              </a:rPr>
              <a:t>setup()</a:t>
            </a:r>
            <a:endParaRPr lang="en-US" sz="2000" dirty="0"/>
          </a:p>
        </p:txBody>
      </p:sp>
      <p:sp>
        <p:nvSpPr>
          <p:cNvPr id="7" name="descripción setup()"/>
          <p:cNvSpPr txBox="1"/>
          <p:nvPr/>
        </p:nvSpPr>
        <p:spPr>
          <a:xfrm>
            <a:off x="822960" y="2194560"/>
            <a:ext cx="4937760" cy="502920"/>
          </a:xfrm>
          <a:prstGeom prst="rect">
            <a:avLst/>
          </a:prstGeom>
          <a:noFill/>
          <a:ln/>
        </p:spPr>
        <p:txBody>
          <a:bodyPr wrap="square" lIns="0" tIns="0" rIns="0" bIns="0" rtlCol="0" anchor="t"/>
          <a:lstStyle/>
          <a:p>
            <a:pPr indent="0" marL="0">
              <a:buNone/>
            </a:pPr>
            <a:r>
              <a:rPr lang="en-US" sz="1400" dirty="0">
                <a:solidFill>
                  <a:schemeClr val="tx1"/>
                </a:solidFill>
              </a:rPr>
              <a:t>Prepara el experimento: imputa nulos, codifica variables y fija la semilla.</a:t>
            </a:r>
            <a:endParaRPr lang="en-US" sz="1400" dirty="0"/>
          </a:p>
        </p:txBody>
      </p:sp>
      <p:sp>
        <p:nvSpPr>
          <p:cNvPr id="8" name="fondo código setup()"/>
          <p:cNvSpPr/>
          <p:nvPr/>
        </p:nvSpPr>
        <p:spPr>
          <a:xfrm>
            <a:off x="822960" y="2743200"/>
            <a:ext cx="4892040" cy="640080"/>
          </a:xfrm>
          <a:prstGeom prst="roundRect">
            <a:avLst>
              <a:gd name="adj" fmla="val 8571"/>
            </a:avLst>
          </a:prstGeom>
          <a:solidFill>
            <a:schemeClr val="tx2"/>
          </a:solidFill>
          <a:ln/>
        </p:spPr>
      </p:sp>
      <p:sp>
        <p:nvSpPr>
          <p:cNvPr id="9" name="código setup()"/>
          <p:cNvSpPr txBox="1"/>
          <p:nvPr/>
        </p:nvSpPr>
        <p:spPr>
          <a:xfrm>
            <a:off x="960120" y="2743200"/>
            <a:ext cx="4663440" cy="640080"/>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setup(data=train_df, test_data=test_df,</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target="Churn", session_id=42)</a:t>
            </a:r>
            <a:endParaRPr lang="en-US" sz="1100" dirty="0"/>
          </a:p>
        </p:txBody>
      </p:sp>
      <p:sp>
        <p:nvSpPr>
          <p:cNvPr id="10" name="tarjeta compare_models()"/>
          <p:cNvSpPr/>
          <p:nvPr/>
        </p:nvSpPr>
        <p:spPr>
          <a:xfrm>
            <a:off x="6199632" y="1371600"/>
            <a:ext cx="5440680" cy="2148840"/>
          </a:xfrm>
          <a:prstGeom prst="roundRect">
            <a:avLst>
              <a:gd name="adj" fmla="val 4255"/>
            </a:avLst>
          </a:prstGeom>
          <a:solidFill>
            <a:schemeClr val="bg2"/>
          </a:solidFill>
          <a:ln/>
        </p:spPr>
      </p:sp>
      <p:sp>
        <p:nvSpPr>
          <p:cNvPr id="11" name="número 2"/>
          <p:cNvSpPr/>
          <p:nvPr/>
        </p:nvSpPr>
        <p:spPr>
          <a:xfrm>
            <a:off x="6428232" y="1600200"/>
            <a:ext cx="457200" cy="457200"/>
          </a:xfrm>
          <a:prstGeom prst="ellipse">
            <a:avLst/>
          </a:prstGeom>
          <a:solidFill>
            <a:schemeClr val="accent1"/>
          </a:solidFill>
          <a:ln/>
        </p:spPr>
      </p:sp>
      <p:sp>
        <p:nvSpPr>
          <p:cNvPr id="12" name="texto número 2"/>
          <p:cNvSpPr txBox="1"/>
          <p:nvPr/>
        </p:nvSpPr>
        <p:spPr>
          <a:xfrm>
            <a:off x="6428232"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nombre compare_models()"/>
          <p:cNvSpPr txBox="1"/>
          <p:nvPr/>
        </p:nvSpPr>
        <p:spPr>
          <a:xfrm>
            <a:off x="7068312" y="1600200"/>
            <a:ext cx="4297680" cy="457200"/>
          </a:xfrm>
          <a:prstGeom prst="rect">
            <a:avLst/>
          </a:prstGeom>
          <a:noFill/>
          <a:ln/>
        </p:spPr>
        <p:txBody>
          <a:bodyPr wrap="square" lIns="0" tIns="0" rIns="0" bIns="0" rtlCol="0" anchor="ctr"/>
          <a:lstStyle/>
          <a:p>
            <a:pPr indent="0" marL="0">
              <a:buNone/>
            </a:pPr>
            <a:r>
              <a:rPr lang="en-US" sz="2000" b="1" dirty="0">
                <a:solidFill>
                  <a:schemeClr val="tx2"/>
                </a:solidFill>
                <a:latin typeface="Courier New" pitchFamily="34" charset="0"/>
                <a:ea typeface="Courier New" pitchFamily="34" charset="-122"/>
                <a:cs typeface="Courier New" pitchFamily="34" charset="-120"/>
              </a:rPr>
              <a:t>compare_models()</a:t>
            </a:r>
            <a:endParaRPr lang="en-US" sz="2000" dirty="0"/>
          </a:p>
        </p:txBody>
      </p:sp>
      <p:sp>
        <p:nvSpPr>
          <p:cNvPr id="14" name="descripción compare_models()"/>
          <p:cNvSpPr txBox="1"/>
          <p:nvPr/>
        </p:nvSpPr>
        <p:spPr>
          <a:xfrm>
            <a:off x="6473952" y="2194560"/>
            <a:ext cx="4937760" cy="502920"/>
          </a:xfrm>
          <a:prstGeom prst="rect">
            <a:avLst/>
          </a:prstGeom>
          <a:noFill/>
          <a:ln/>
        </p:spPr>
        <p:txBody>
          <a:bodyPr wrap="square" lIns="0" tIns="0" rIns="0" bIns="0" rtlCol="0" anchor="t"/>
          <a:lstStyle/>
          <a:p>
            <a:pPr indent="0" marL="0">
              <a:buNone/>
            </a:pPr>
            <a:r>
              <a:rPr lang="en-US" sz="1400" dirty="0">
                <a:solidFill>
                  <a:schemeClr val="tx1"/>
                </a:solidFill>
              </a:rPr>
              <a:t>Entrena y compara los modelos con validación cruzada de 10 pliegues.</a:t>
            </a:r>
            <a:endParaRPr lang="en-US" sz="1400" dirty="0"/>
          </a:p>
        </p:txBody>
      </p:sp>
      <p:sp>
        <p:nvSpPr>
          <p:cNvPr id="15" name="fondo código compare_models()"/>
          <p:cNvSpPr/>
          <p:nvPr/>
        </p:nvSpPr>
        <p:spPr>
          <a:xfrm>
            <a:off x="6473952" y="2743200"/>
            <a:ext cx="4892040" cy="640080"/>
          </a:xfrm>
          <a:prstGeom prst="roundRect">
            <a:avLst>
              <a:gd name="adj" fmla="val 8571"/>
            </a:avLst>
          </a:prstGeom>
          <a:solidFill>
            <a:schemeClr val="tx2"/>
          </a:solidFill>
          <a:ln/>
        </p:spPr>
      </p:sp>
      <p:sp>
        <p:nvSpPr>
          <p:cNvPr id="16" name="código compare_models()"/>
          <p:cNvSpPr txBox="1"/>
          <p:nvPr/>
        </p:nvSpPr>
        <p:spPr>
          <a:xfrm>
            <a:off x="6611112" y="2743200"/>
            <a:ext cx="4663440" cy="640080"/>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mejor = compare_models(sort="F1")</a:t>
            </a:r>
            <a:endParaRPr lang="en-US" sz="1100" dirty="0"/>
          </a:p>
        </p:txBody>
      </p:sp>
      <p:sp>
        <p:nvSpPr>
          <p:cNvPr id="17" name="tarjeta tune_model()"/>
          <p:cNvSpPr/>
          <p:nvPr/>
        </p:nvSpPr>
        <p:spPr>
          <a:xfrm>
            <a:off x="548640" y="3703320"/>
            <a:ext cx="5440680" cy="2148840"/>
          </a:xfrm>
          <a:prstGeom prst="roundRect">
            <a:avLst>
              <a:gd name="adj" fmla="val 4255"/>
            </a:avLst>
          </a:prstGeom>
          <a:solidFill>
            <a:schemeClr val="bg2"/>
          </a:solidFill>
          <a:ln/>
        </p:spPr>
      </p:sp>
      <p:sp>
        <p:nvSpPr>
          <p:cNvPr id="18" name="número 3"/>
          <p:cNvSpPr/>
          <p:nvPr/>
        </p:nvSpPr>
        <p:spPr>
          <a:xfrm>
            <a:off x="777240" y="3931920"/>
            <a:ext cx="457200" cy="457200"/>
          </a:xfrm>
          <a:prstGeom prst="ellipse">
            <a:avLst/>
          </a:prstGeom>
          <a:solidFill>
            <a:schemeClr val="accent1"/>
          </a:solidFill>
          <a:ln/>
        </p:spPr>
      </p:sp>
      <p:sp>
        <p:nvSpPr>
          <p:cNvPr id="19" name="texto número 3"/>
          <p:cNvSpPr txBox="1"/>
          <p:nvPr/>
        </p:nvSpPr>
        <p:spPr>
          <a:xfrm>
            <a:off x="777240" y="3931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0" name="nombre tune_model()"/>
          <p:cNvSpPr txBox="1"/>
          <p:nvPr/>
        </p:nvSpPr>
        <p:spPr>
          <a:xfrm>
            <a:off x="1417320" y="3931920"/>
            <a:ext cx="4297680" cy="457200"/>
          </a:xfrm>
          <a:prstGeom prst="rect">
            <a:avLst/>
          </a:prstGeom>
          <a:noFill/>
          <a:ln/>
        </p:spPr>
        <p:txBody>
          <a:bodyPr wrap="square" lIns="0" tIns="0" rIns="0" bIns="0" rtlCol="0" anchor="ctr"/>
          <a:lstStyle/>
          <a:p>
            <a:pPr indent="0" marL="0">
              <a:buNone/>
            </a:pPr>
            <a:r>
              <a:rPr lang="en-US" sz="2000" b="1" dirty="0">
                <a:solidFill>
                  <a:schemeClr val="tx2"/>
                </a:solidFill>
                <a:latin typeface="Courier New" pitchFamily="34" charset="0"/>
                <a:ea typeface="Courier New" pitchFamily="34" charset="-122"/>
                <a:cs typeface="Courier New" pitchFamily="34" charset="-120"/>
              </a:rPr>
              <a:t>tune_model()</a:t>
            </a:r>
            <a:endParaRPr lang="en-US" sz="2000" dirty="0"/>
          </a:p>
        </p:txBody>
      </p:sp>
      <p:sp>
        <p:nvSpPr>
          <p:cNvPr id="21" name="descripción tune_model()"/>
          <p:cNvSpPr txBox="1"/>
          <p:nvPr/>
        </p:nvSpPr>
        <p:spPr>
          <a:xfrm>
            <a:off x="822960" y="4526280"/>
            <a:ext cx="4937760" cy="502920"/>
          </a:xfrm>
          <a:prstGeom prst="rect">
            <a:avLst/>
          </a:prstGeom>
          <a:noFill/>
          <a:ln/>
        </p:spPr>
        <p:txBody>
          <a:bodyPr wrap="square" lIns="0" tIns="0" rIns="0" bIns="0" rtlCol="0" anchor="t"/>
          <a:lstStyle/>
          <a:p>
            <a:pPr indent="0" marL="0">
              <a:buNone/>
            </a:pPr>
            <a:r>
              <a:rPr lang="en-US" sz="1400" dirty="0">
                <a:solidFill>
                  <a:schemeClr val="tx1"/>
                </a:solidFill>
              </a:rPr>
              <a:t>Busca hiperparámetros para el mejor modelo (aquí, 10 candidatos).</a:t>
            </a:r>
            <a:endParaRPr lang="en-US" sz="1400" dirty="0"/>
          </a:p>
        </p:txBody>
      </p:sp>
      <p:sp>
        <p:nvSpPr>
          <p:cNvPr id="22" name="fondo código tune_model()"/>
          <p:cNvSpPr/>
          <p:nvPr/>
        </p:nvSpPr>
        <p:spPr>
          <a:xfrm>
            <a:off x="822960" y="5074920"/>
            <a:ext cx="4892040" cy="640080"/>
          </a:xfrm>
          <a:prstGeom prst="roundRect">
            <a:avLst>
              <a:gd name="adj" fmla="val 8571"/>
            </a:avLst>
          </a:prstGeom>
          <a:solidFill>
            <a:schemeClr val="tx2"/>
          </a:solidFill>
          <a:ln/>
        </p:spPr>
      </p:sp>
      <p:sp>
        <p:nvSpPr>
          <p:cNvPr id="23" name="código tune_model()"/>
          <p:cNvSpPr txBox="1"/>
          <p:nvPr/>
        </p:nvSpPr>
        <p:spPr>
          <a:xfrm>
            <a:off x="960120" y="5074920"/>
            <a:ext cx="4663440" cy="640080"/>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tuned = tune_model(mejor, optimize="F1",</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n_iter=10)</a:t>
            </a:r>
            <a:endParaRPr lang="en-US" sz="1100" dirty="0"/>
          </a:p>
        </p:txBody>
      </p:sp>
      <p:sp>
        <p:nvSpPr>
          <p:cNvPr id="24" name="tarjeta predict_model()"/>
          <p:cNvSpPr/>
          <p:nvPr/>
        </p:nvSpPr>
        <p:spPr>
          <a:xfrm>
            <a:off x="6199632" y="3703320"/>
            <a:ext cx="5440680" cy="2148840"/>
          </a:xfrm>
          <a:prstGeom prst="roundRect">
            <a:avLst>
              <a:gd name="adj" fmla="val 4255"/>
            </a:avLst>
          </a:prstGeom>
          <a:solidFill>
            <a:schemeClr val="bg2"/>
          </a:solidFill>
          <a:ln/>
        </p:spPr>
      </p:sp>
      <p:sp>
        <p:nvSpPr>
          <p:cNvPr id="25" name="número 4"/>
          <p:cNvSpPr/>
          <p:nvPr/>
        </p:nvSpPr>
        <p:spPr>
          <a:xfrm>
            <a:off x="6428232" y="3931920"/>
            <a:ext cx="457200" cy="457200"/>
          </a:xfrm>
          <a:prstGeom prst="ellipse">
            <a:avLst/>
          </a:prstGeom>
          <a:solidFill>
            <a:schemeClr val="accent1"/>
          </a:solidFill>
          <a:ln/>
        </p:spPr>
      </p:sp>
      <p:sp>
        <p:nvSpPr>
          <p:cNvPr id="26" name="texto número 4"/>
          <p:cNvSpPr txBox="1"/>
          <p:nvPr/>
        </p:nvSpPr>
        <p:spPr>
          <a:xfrm>
            <a:off x="6428232" y="3931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7" name="nombre predict_model()"/>
          <p:cNvSpPr txBox="1"/>
          <p:nvPr/>
        </p:nvSpPr>
        <p:spPr>
          <a:xfrm>
            <a:off x="7068312" y="3931920"/>
            <a:ext cx="4297680" cy="457200"/>
          </a:xfrm>
          <a:prstGeom prst="rect">
            <a:avLst/>
          </a:prstGeom>
          <a:noFill/>
          <a:ln/>
        </p:spPr>
        <p:txBody>
          <a:bodyPr wrap="square" lIns="0" tIns="0" rIns="0" bIns="0" rtlCol="0" anchor="ctr"/>
          <a:lstStyle/>
          <a:p>
            <a:pPr indent="0" marL="0">
              <a:buNone/>
            </a:pPr>
            <a:r>
              <a:rPr lang="en-US" sz="2000" b="1" dirty="0">
                <a:solidFill>
                  <a:schemeClr val="tx2"/>
                </a:solidFill>
                <a:latin typeface="Courier New" pitchFamily="34" charset="0"/>
                <a:ea typeface="Courier New" pitchFamily="34" charset="-122"/>
                <a:cs typeface="Courier New" pitchFamily="34" charset="-120"/>
              </a:rPr>
              <a:t>predict_model()</a:t>
            </a:r>
            <a:endParaRPr lang="en-US" sz="2000" dirty="0"/>
          </a:p>
        </p:txBody>
      </p:sp>
      <p:sp>
        <p:nvSpPr>
          <p:cNvPr id="28" name="descripción predict_model()"/>
          <p:cNvSpPr txBox="1"/>
          <p:nvPr/>
        </p:nvSpPr>
        <p:spPr>
          <a:xfrm>
            <a:off x="6473952" y="4526280"/>
            <a:ext cx="4937760" cy="502920"/>
          </a:xfrm>
          <a:prstGeom prst="rect">
            <a:avLst/>
          </a:prstGeom>
          <a:noFill/>
          <a:ln/>
        </p:spPr>
        <p:txBody>
          <a:bodyPr wrap="square" lIns="0" tIns="0" rIns="0" bIns="0" rtlCol="0" anchor="t"/>
          <a:lstStyle/>
          <a:p>
            <a:pPr indent="0" marL="0">
              <a:buNone/>
            </a:pPr>
            <a:r>
              <a:rPr lang="en-US" sz="1400" dirty="0">
                <a:solidFill>
                  <a:schemeClr val="tx1"/>
                </a:solidFill>
              </a:rPr>
              <a:t>Aplica el pipeline y el modelo al conjunto de prueba.</a:t>
            </a:r>
            <a:endParaRPr lang="en-US" sz="1400" dirty="0"/>
          </a:p>
        </p:txBody>
      </p:sp>
      <p:sp>
        <p:nvSpPr>
          <p:cNvPr id="29" name="fondo código predict_model()"/>
          <p:cNvSpPr/>
          <p:nvPr/>
        </p:nvSpPr>
        <p:spPr>
          <a:xfrm>
            <a:off x="6473952" y="5074920"/>
            <a:ext cx="4892040" cy="640080"/>
          </a:xfrm>
          <a:prstGeom prst="roundRect">
            <a:avLst>
              <a:gd name="adj" fmla="val 8571"/>
            </a:avLst>
          </a:prstGeom>
          <a:solidFill>
            <a:schemeClr val="tx2"/>
          </a:solidFill>
          <a:ln/>
        </p:spPr>
      </p:sp>
      <p:sp>
        <p:nvSpPr>
          <p:cNvPr id="30" name="código predict_model()"/>
          <p:cNvSpPr txBox="1"/>
          <p:nvPr/>
        </p:nvSpPr>
        <p:spPr>
          <a:xfrm>
            <a:off x="6611112" y="5074920"/>
            <a:ext cx="4663440" cy="640080"/>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pred = predict_model(tuned, data=test_df,</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raw_score=True)</a:t>
            </a:r>
            <a:endParaRPr lang="en-US" sz="1100" dirty="0"/>
          </a:p>
        </p:txBody>
      </p:sp>
      <p:sp>
        <p:nvSpPr>
          <p:cNvPr id="31" name="nota funciones no usadas"/>
          <p:cNvSpPr txBox="1"/>
          <p:nvPr/>
        </p:nvSpPr>
        <p:spPr>
          <a:xfrm>
            <a:off x="548640" y="6035040"/>
            <a:ext cx="11064240" cy="320040"/>
          </a:xfrm>
          <a:prstGeom prst="rect">
            <a:avLst/>
          </a:prstGeom>
          <a:noFill/>
          <a:ln/>
        </p:spPr>
        <p:txBody>
          <a:bodyPr wrap="square" lIns="0" tIns="0" rIns="0" bIns="0" rtlCol="0" anchor="t"/>
          <a:lstStyle/>
          <a:p>
            <a:pPr indent="0" marL="0">
              <a:buNone/>
            </a:pPr>
            <a:r>
              <a:rPr lang="en-US" sz="1200" dirty="0">
                <a:solidFill>
                  <a:schemeClr val="accent5"/>
                </a:solidFill>
              </a:rPr>
              <a:t>También existen finalize_model() (reentrena con todos los datos) y save_model(); no los usamos en este trabajo.</a:t>
            </a:r>
            <a:endParaRPr lang="en-US" sz="12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Los datos: el contrato y la antigüedad marcan el churn</a:t>
            </a:r>
            <a:endParaRPr lang="en-US" sz="3000" dirty="0"/>
          </a:p>
        </p:txBody>
      </p:sp>
      <p:sp>
        <p:nvSpPr>
          <p:cNvPr id="3" name="dato 7.043"/>
          <p:cNvSpPr/>
          <p:nvPr/>
        </p:nvSpPr>
        <p:spPr>
          <a:xfrm>
            <a:off x="548640" y="1371600"/>
            <a:ext cx="3108960" cy="1463040"/>
          </a:xfrm>
          <a:prstGeom prst="roundRect">
            <a:avLst>
              <a:gd name="adj" fmla="val 6250"/>
            </a:avLst>
          </a:prstGeom>
          <a:solidFill>
            <a:schemeClr val="bg2"/>
          </a:solidFill>
          <a:ln/>
        </p:spPr>
      </p:sp>
      <p:sp>
        <p:nvSpPr>
          <p:cNvPr id="4" name="cifra 7.043"/>
          <p:cNvSpPr txBox="1"/>
          <p:nvPr/>
        </p:nvSpPr>
        <p:spPr>
          <a:xfrm>
            <a:off x="731520" y="1508760"/>
            <a:ext cx="2743200" cy="68580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7.043</a:t>
            </a:r>
            <a:endParaRPr lang="en-US" sz="3200" dirty="0"/>
          </a:p>
        </p:txBody>
      </p:sp>
      <p:sp>
        <p:nvSpPr>
          <p:cNvPr id="5" name="descripción 7.043"/>
          <p:cNvSpPr txBox="1"/>
          <p:nvPr/>
        </p:nvSpPr>
        <p:spPr>
          <a:xfrm>
            <a:off x="731520" y="2240280"/>
            <a:ext cx="2743200" cy="548640"/>
          </a:xfrm>
          <a:prstGeom prst="rect">
            <a:avLst/>
          </a:prstGeom>
          <a:noFill/>
          <a:ln/>
        </p:spPr>
        <p:txBody>
          <a:bodyPr wrap="square" lIns="0" tIns="0" rIns="0" bIns="0" rtlCol="0" anchor="t"/>
          <a:lstStyle/>
          <a:p>
            <a:pPr indent="0" marL="0">
              <a:buNone/>
            </a:pPr>
            <a:r>
              <a:rPr lang="en-US" sz="1300" dirty="0">
                <a:solidFill>
                  <a:schemeClr val="tx1"/>
                </a:solidFill>
              </a:rPr>
              <a:t>clientes y 21 columnas, sin duplicados</a:t>
            </a:r>
            <a:endParaRPr lang="en-US" sz="1300" dirty="0"/>
          </a:p>
        </p:txBody>
      </p:sp>
      <p:sp>
        <p:nvSpPr>
          <p:cNvPr id="6" name="dato 26,54 %"/>
          <p:cNvSpPr/>
          <p:nvPr/>
        </p:nvSpPr>
        <p:spPr>
          <a:xfrm>
            <a:off x="548640" y="2971800"/>
            <a:ext cx="3108960" cy="1463040"/>
          </a:xfrm>
          <a:prstGeom prst="roundRect">
            <a:avLst>
              <a:gd name="adj" fmla="val 6250"/>
            </a:avLst>
          </a:prstGeom>
          <a:solidFill>
            <a:schemeClr val="bg2"/>
          </a:solidFill>
          <a:ln/>
        </p:spPr>
      </p:sp>
      <p:sp>
        <p:nvSpPr>
          <p:cNvPr id="7" name="cifra 26,54 %"/>
          <p:cNvSpPr txBox="1"/>
          <p:nvPr/>
        </p:nvSpPr>
        <p:spPr>
          <a:xfrm>
            <a:off x="731520" y="3108960"/>
            <a:ext cx="2743200" cy="68580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26,54 %</a:t>
            </a:r>
            <a:endParaRPr lang="en-US" sz="3200" dirty="0"/>
          </a:p>
        </p:txBody>
      </p:sp>
      <p:sp>
        <p:nvSpPr>
          <p:cNvPr id="8" name="descripción 26,54 %"/>
          <p:cNvSpPr txBox="1"/>
          <p:nvPr/>
        </p:nvSpPr>
        <p:spPr>
          <a:xfrm>
            <a:off x="731520" y="3840480"/>
            <a:ext cx="2743200" cy="548640"/>
          </a:xfrm>
          <a:prstGeom prst="rect">
            <a:avLst/>
          </a:prstGeom>
          <a:noFill/>
          <a:ln/>
        </p:spPr>
        <p:txBody>
          <a:bodyPr wrap="square" lIns="0" tIns="0" rIns="0" bIns="0" rtlCol="0" anchor="t"/>
          <a:lstStyle/>
          <a:p>
            <a:pPr indent="0" marL="0">
              <a:buNone/>
            </a:pPr>
            <a:r>
              <a:rPr lang="en-US" sz="1300" dirty="0">
                <a:solidFill>
                  <a:schemeClr val="tx1"/>
                </a:solidFill>
              </a:rPr>
              <a:t>abandona (1.869 clientes)</a:t>
            </a:r>
            <a:endParaRPr lang="en-US" sz="1300" dirty="0"/>
          </a:p>
        </p:txBody>
      </p:sp>
      <p:sp>
        <p:nvSpPr>
          <p:cNvPr id="9" name="dato 42,71 % vs. 2,83 %"/>
          <p:cNvSpPr/>
          <p:nvPr/>
        </p:nvSpPr>
        <p:spPr>
          <a:xfrm>
            <a:off x="548640" y="4572000"/>
            <a:ext cx="3108960" cy="1463040"/>
          </a:xfrm>
          <a:prstGeom prst="roundRect">
            <a:avLst>
              <a:gd name="adj" fmla="val 6250"/>
            </a:avLst>
          </a:prstGeom>
          <a:solidFill>
            <a:schemeClr val="bg2"/>
          </a:solidFill>
          <a:ln/>
        </p:spPr>
      </p:sp>
      <p:sp>
        <p:nvSpPr>
          <p:cNvPr id="10" name="cifra 42,71 % vs. 2,83 %"/>
          <p:cNvSpPr txBox="1"/>
          <p:nvPr/>
        </p:nvSpPr>
        <p:spPr>
          <a:xfrm>
            <a:off x="731520" y="4709160"/>
            <a:ext cx="2743200" cy="685800"/>
          </a:xfrm>
          <a:prstGeom prst="rect">
            <a:avLst/>
          </a:prstGeom>
          <a:noFill/>
          <a:ln/>
        </p:spPr>
        <p:txBody>
          <a:bodyPr wrap="square" lIns="0" tIns="0" rIns="0" bIns="0" rtlCol="0" anchor="ctr"/>
          <a:lstStyle/>
          <a:p>
            <a:pPr indent="0" marL="0">
              <a:buNone/>
            </a:pPr>
            <a:r>
              <a:rPr lang="en-US" sz="2200" b="1" dirty="0">
                <a:solidFill>
                  <a:schemeClr val="accent2"/>
                </a:solidFill>
                <a:latin typeface="Cambria" pitchFamily="34" charset="0"/>
                <a:ea typeface="Cambria" pitchFamily="34" charset="-122"/>
                <a:cs typeface="Cambria" pitchFamily="34" charset="-120"/>
              </a:rPr>
              <a:t>42,71 % vs. 2,83 %</a:t>
            </a:r>
            <a:endParaRPr lang="en-US" sz="2200" dirty="0"/>
          </a:p>
        </p:txBody>
      </p:sp>
      <p:sp>
        <p:nvSpPr>
          <p:cNvPr id="11" name="descripción 42,71 % vs. 2,83 %"/>
          <p:cNvSpPr txBox="1"/>
          <p:nvPr/>
        </p:nvSpPr>
        <p:spPr>
          <a:xfrm>
            <a:off x="731520" y="5440680"/>
            <a:ext cx="2743200" cy="548640"/>
          </a:xfrm>
          <a:prstGeom prst="rect">
            <a:avLst/>
          </a:prstGeom>
          <a:noFill/>
          <a:ln/>
        </p:spPr>
        <p:txBody>
          <a:bodyPr wrap="square" lIns="0" tIns="0" rIns="0" bIns="0" rtlCol="0" anchor="t"/>
          <a:lstStyle/>
          <a:p>
            <a:pPr indent="0" marL="0">
              <a:buNone/>
            </a:pPr>
            <a:r>
              <a:rPr lang="en-US" sz="1300" dirty="0">
                <a:solidFill>
                  <a:schemeClr val="tx1"/>
                </a:solidFill>
              </a:rPr>
              <a:t>churn con contrato mes a mes vs. de dos años</a:t>
            </a:r>
            <a:endParaRPr lang="en-US" sz="1300" dirty="0"/>
          </a:p>
        </p:txBody>
      </p:sp>
      <p:pic>
        <p:nvPicPr>
          <p:cNvPr id="12" name="gráfico churn por contrato" descr="Tasa de churn por tipo de contrato: 42,7 % mes a mes, 11,3 % un año, 2,8 % dos años">    </p:cNvPr>
          <p:cNvPicPr>
            <a:picLocks noChangeAspect="1"/>
          </p:cNvPicPr>
          <p:nvPr/>
        </p:nvPicPr>
        <p:blipFill>
          <a:blip r:embed="rId1"/>
          <a:stretch>
            <a:fillRect/>
          </a:stretch>
        </p:blipFill>
        <p:spPr>
          <a:xfrm>
            <a:off x="3886200" y="1403541"/>
            <a:ext cx="3657600" cy="2404997"/>
          </a:xfrm>
          <a:prstGeom prst="rect">
            <a:avLst/>
          </a:prstGeom>
        </p:spPr>
      </p:pic>
      <p:pic>
        <p:nvPicPr>
          <p:cNvPr id="13" name="gráfico antigüedad" descr="Distribución de la antigüedad según churn">    </p:cNvPr>
          <p:cNvPicPr>
            <a:picLocks noChangeAspect="1"/>
          </p:cNvPicPr>
          <p:nvPr/>
        </p:nvPicPr>
        <p:blipFill>
          <a:blip r:embed="rId2"/>
          <a:stretch>
            <a:fillRect/>
          </a:stretch>
        </p:blipFill>
        <p:spPr>
          <a:xfrm>
            <a:off x="7680960" y="1502343"/>
            <a:ext cx="3931920" cy="2207394"/>
          </a:xfrm>
          <a:prstGeom prst="rect">
            <a:avLst/>
          </a:prstGeom>
        </p:spPr>
      </p:pic>
      <p:sp>
        <p:nvSpPr>
          <p:cNvPr id="14" name="hallazgos"/>
          <p:cNvSpPr/>
          <p:nvPr/>
        </p:nvSpPr>
        <p:spPr>
          <a:xfrm>
            <a:off x="3886200" y="4160520"/>
            <a:ext cx="7726680" cy="1965960"/>
          </a:xfrm>
          <a:prstGeom prst="roundRect">
            <a:avLst>
              <a:gd name="adj" fmla="val 4651"/>
            </a:avLst>
          </a:prstGeom>
          <a:solidFill>
            <a:schemeClr val="bg2"/>
          </a:solidFill>
          <a:ln/>
        </p:spPr>
      </p:sp>
      <p:sp>
        <p:nvSpPr>
          <p:cNvPr id="15" name="lista de hallazgos"/>
          <p:cNvSpPr txBox="1"/>
          <p:nvPr/>
        </p:nvSpPr>
        <p:spPr>
          <a:xfrm>
            <a:off x="4114800" y="4297680"/>
            <a:ext cx="7269480" cy="173736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chemeClr val="tx1"/>
                </a:solidFill>
              </a:rPr>
              <a:t>Antigüedad media: 18,0 meses (abandona) frente a 37,6 meses (se queda).</a:t>
            </a:r>
            <a:endParaRPr lang="en-US" sz="1500" dirty="0"/>
          </a:p>
          <a:p>
            <a:pPr marL="342900" indent="-342900">
              <a:spcAft>
                <a:spcPts val="600"/>
              </a:spcAft>
              <a:buSzPct val="100000"/>
              <a:buChar char="•"/>
            </a:pPr>
            <a:r>
              <a:rPr lang="en-US" sz="1500" dirty="0">
                <a:solidFill>
                  <a:schemeClr val="tx1"/>
                </a:solidFill>
              </a:rPr>
              <a:t>Fibra óptica: 41,89 % de churn; DSL: 18,96 %; sin internet: 7,40 %.</a:t>
            </a:r>
            <a:endParaRPr lang="en-US" sz="1500" dirty="0"/>
          </a:p>
          <a:p>
            <a:pPr marL="342900" indent="-342900">
              <a:buSzPct val="100000"/>
              <a:buChar char="•"/>
            </a:pPr>
            <a:r>
              <a:rPr lang="en-US" sz="1500" dirty="0">
                <a:solidFill>
                  <a:schemeClr val="tx1"/>
                </a:solidFill>
              </a:rPr>
              <a:t>Cargos mensuales: mediana de $79,65 (abandona) frente a $64,43.</a:t>
            </a:r>
            <a:endParaRPr lang="en-US" sz="15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Limpieza común y preprocesamiento de cada herramienta</a:t>
            </a:r>
            <a:endParaRPr lang="en-US" sz="3000" dirty="0"/>
          </a:p>
        </p:txBody>
      </p:sp>
      <p:sp>
        <p:nvSpPr>
          <p:cNvPr id="3" name="tarjeta de limpieza"/>
          <p:cNvSpPr/>
          <p:nvPr/>
        </p:nvSpPr>
        <p:spPr>
          <a:xfrm>
            <a:off x="548640" y="1371600"/>
            <a:ext cx="4206240" cy="4754880"/>
          </a:xfrm>
          <a:prstGeom prst="roundRect">
            <a:avLst>
              <a:gd name="adj" fmla="val 2174"/>
            </a:avLst>
          </a:prstGeom>
          <a:solidFill>
            <a:schemeClr val="bg2"/>
          </a:solidFill>
          <a:ln/>
        </p:spPr>
      </p:sp>
      <p:sp>
        <p:nvSpPr>
          <p:cNvPr id="4" name="título limpieza"/>
          <p:cNvSpPr txBox="1"/>
          <p:nvPr/>
        </p:nvSpPr>
        <p:spPr>
          <a:xfrm>
            <a:off x="777240" y="1554480"/>
            <a:ext cx="3749040" cy="45720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Limpieza común (Marcos)</a:t>
            </a:r>
            <a:endParaRPr lang="en-US" sz="1900" dirty="0"/>
          </a:p>
        </p:txBody>
      </p:sp>
      <p:sp>
        <p:nvSpPr>
          <p:cNvPr id="5" name="lista de limpieza"/>
          <p:cNvSpPr txBox="1"/>
          <p:nvPr/>
        </p:nvSpPr>
        <p:spPr>
          <a:xfrm>
            <a:off x="777240" y="2103120"/>
            <a:ext cx="3749040" cy="39319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TotalCharges venía como texto: 11 valores vacíos, todos de clientes con tenure = 0. Se convirtió a número y se imputó con 0.</a:t>
            </a:r>
            <a:endParaRPr lang="en-US" sz="1400" dirty="0"/>
          </a:p>
          <a:p>
            <a:pPr marL="342900" indent="-342900">
              <a:spcAft>
                <a:spcPts val="800"/>
              </a:spcAft>
              <a:buSzPct val="100000"/>
              <a:buChar char="•"/>
            </a:pPr>
            <a:r>
              <a:rPr lang="en-US" sz="1400" dirty="0">
                <a:solidFill>
                  <a:schemeClr val="tx1"/>
                </a:solidFill>
              </a:rPr>
              <a:t>Se eliminó customerID (identificador sin valor predictivo).</a:t>
            </a:r>
            <a:endParaRPr lang="en-US" sz="1400" dirty="0"/>
          </a:p>
          <a:p>
            <a:pPr marL="342900" indent="-342900">
              <a:spcAft>
                <a:spcPts val="800"/>
              </a:spcAft>
              <a:buSzPct val="100000"/>
              <a:buChar char="•"/>
            </a:pPr>
            <a:r>
              <a:rPr lang="en-US" sz="1400" dirty="0">
                <a:solidFill>
                  <a:schemeClr val="tx1"/>
                </a:solidFill>
              </a:rPr>
              <a:t>Churn: Yes = 1, No = 0.</a:t>
            </a:r>
            <a:endParaRPr lang="en-US" sz="1400" dirty="0"/>
          </a:p>
          <a:p>
            <a:pPr marL="342900" indent="-342900">
              <a:buSzPct val="100000"/>
              <a:buChar char="•"/>
            </a:pPr>
            <a:r>
              <a:rPr lang="en-US" sz="1400" dirty="0">
                <a:solidFill>
                  <a:schemeClr val="tx1"/>
                </a:solidFill>
              </a:rPr>
              <a:t>Split estratificado 80/20, semilla 42: 5.634 clientes de entrenamiento y 1.409 de prueba, con 26,54 % de churn en ambos.</a:t>
            </a:r>
            <a:endParaRPr lang="en-US" sz="1400" dirty="0"/>
          </a:p>
        </p:txBody>
      </p:sp>
      <p:sp>
        <p:nvSpPr>
          <p:cNvPr id="6" name="título comparación de preprocesamiento"/>
          <p:cNvSpPr txBox="1"/>
          <p:nvPr/>
        </p:nvSpPr>
        <p:spPr>
          <a:xfrm>
            <a:off x="5029200" y="1371600"/>
            <a:ext cx="6583680" cy="45720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Lo que hace cada herramienta por defecto</a:t>
            </a:r>
            <a:endParaRPr lang="en-US" sz="1900" dirty="0"/>
          </a:p>
        </p:txBody>
      </p:sp>
      <p:graphicFrame>
        <p:nvGraphicFramePr>
          <p:cNvPr id="10" name="tabla de preprocesamiento"/>
          <p:cNvGraphicFramePr>
            <a:graphicFrameLocks noGrp="1"/>
          </p:cNvGraphicFramePr>
          <p:nvPr>
            <p:extLst>
              <p:ext uri="{D42A27DB-BD31-4B8C-83A1-F6EECF244321}">
                <p14:modId xmlns:p14="http://schemas.microsoft.com/office/powerpoint/2010/main" val="1579011935"/>
              </p:ext>
            </p:extLst>
          </p:nvPr>
        </p:nvGraphicFramePr>
        <p:xfrm>
          <a:off x="5029200" y="1920240"/>
          <a:ext cx="6583680" cy="914400"/>
        </p:xfrm>
        <a:graphic>
          <a:graphicData uri="http://schemas.openxmlformats.org/drawingml/2006/table">
            <a:tbl>
              <a:tblPr/>
              <a:tblGrid>
                <a:gridCol w="1828800"/>
                <a:gridCol w="2651760"/>
                <a:gridCol w="2103120"/>
              </a:tblGrid>
              <a:tr h="411480">
                <a:tc>
                  <a:txBody>
                    <a:bodyPr/>
                    <a:lstStyle/>
                    <a:p>
                      <a:pPr indent="0" marL="0">
                        <a:buNone/>
                      </a:pPr>
                      <a:r>
                        <a:rPr lang="en-US" sz="1300" b="1" dirty="0">
                          <a:solidFill>
                            <a:schemeClr val="bg1"/>
                          </a:solidFill>
                        </a:rPr>
                        <a:t>Aspecto</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PyCaret (setup)</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scikit-learn (Daniel)</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02920">
                <a:tc>
                  <a:txBody>
                    <a:bodyPr/>
                    <a:lstStyle/>
                    <a:p>
                      <a:pPr indent="0" marL="0">
                        <a:buNone/>
                      </a:pPr>
                      <a:r>
                        <a:rPr lang="en-US" sz="1300" b="1" dirty="0">
                          <a:solidFill>
                            <a:schemeClr val="tx1"/>
                          </a:solidFill>
                        </a:rPr>
                        <a:t>Nulos</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Media y moda</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Ninguno tras la limpieza</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indent="0" marL="0">
                        <a:buNone/>
                      </a:pPr>
                      <a:r>
                        <a:rPr lang="en-US" sz="1300" b="1" dirty="0">
                          <a:solidFill>
                            <a:schemeClr val="tx1"/>
                          </a:solidFill>
                        </a:rPr>
                        <a:t>Variables categóricas</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One-hot</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OneHotEncoder</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indent="0" marL="0">
                        <a:buNone/>
                      </a:pPr>
                      <a:r>
                        <a:rPr lang="en-US" sz="1300" b="1" dirty="0">
                          <a:solidFill>
                            <a:schemeClr val="tx1"/>
                          </a:solidFill>
                        </a:rPr>
                        <a:t>Escalado</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No escala (normalize=False)</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StandardScaler</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914400">
                <a:tc>
                  <a:txBody>
                    <a:bodyPr/>
                    <a:lstStyle/>
                    <a:p>
                      <a:pPr indent="0" marL="0">
                        <a:buNone/>
                      </a:pPr>
                      <a:r>
                        <a:rPr lang="en-US" sz="1300" b="1" dirty="0">
                          <a:solidFill>
                            <a:schemeClr val="tx1"/>
                          </a:solidFill>
                        </a:rPr>
                        <a:t>Clases desbalanceadas</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No balancea; tune_model terminó eligiendo class_weight="balanced"</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class_weight="balanced"</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indent="0" marL="0">
                        <a:buNone/>
                      </a:pPr>
                      <a:r>
                        <a:rPr lang="en-US" sz="1300" b="1" dirty="0">
                          <a:solidFill>
                            <a:schemeClr val="tx1"/>
                          </a:solidFill>
                        </a:rPr>
                        <a:t>Validación cruzada</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10 pliegues estratificados</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10 pliegues (GridSearchCV)</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8" name="advertencia de coeficientes"/>
          <p:cNvSpPr txBox="1"/>
          <p:nvPr/>
        </p:nvSpPr>
        <p:spPr>
          <a:xfrm>
            <a:off x="5029200" y="5486400"/>
            <a:ext cx="6583680" cy="640080"/>
          </a:xfrm>
          <a:prstGeom prst="rect">
            <a:avLst/>
          </a:prstGeom>
          <a:noFill/>
          <a:ln/>
        </p:spPr>
        <p:txBody>
          <a:bodyPr wrap="square" lIns="0" tIns="0" rIns="0" bIns="0" rtlCol="0" anchor="t"/>
          <a:lstStyle/>
          <a:p>
            <a:pPr indent="0" marL="0">
              <a:buNone/>
            </a:pPr>
            <a:r>
              <a:rPr lang="en-US" sz="1400" dirty="0">
                <a:solidFill>
                  <a:schemeClr val="accent5"/>
                </a:solidFill>
              </a:rPr>
              <a:t>Por eso los coeficientes de los dos modelos no son comparables en magnitud: PyCaret no escala las variables.</a:t>
            </a:r>
            <a:endParaRPr lang="en-US" sz="14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compare_models: 14 modelos con un comando</a:t>
            </a:r>
            <a:endParaRPr lang="en-US" sz="3000" dirty="0"/>
          </a:p>
        </p:txBody>
      </p:sp>
      <p:graphicFrame>
        <p:nvGraphicFramePr>
          <p:cNvPr id="3" name="gráfico F1 por modelo" descr=""/>
          <p:cNvGraphicFramePr/>
          <p:nvPr/>
        </p:nvGraphicFramePr>
        <p:xfrm>
          <a:off x="548640" y="1280160"/>
          <a:ext cx="7040880" cy="4937760"/>
        </p:xfrm>
        <a:graphic xmlns:a="http://schemas.openxmlformats.org/drawingml/2006/main">
          <a:graphicData uri="http://schemas.openxmlformats.org/drawingml/2006/chart">
            <c:chart xmlns:c="http://schemas.openxmlformats.org/drawingml/2006/chart" r:id="rId1"/>
          </a:graphicData>
        </a:graphic>
      </p:graphicFrame>
      <p:sp>
        <p:nvSpPr>
          <p:cNvPr id="4" name="tarjeta Gana la regresión logística"/>
          <p:cNvSpPr/>
          <p:nvPr/>
        </p:nvSpPr>
        <p:spPr>
          <a:xfrm>
            <a:off x="7863840" y="1371600"/>
            <a:ext cx="3749040" cy="1508760"/>
          </a:xfrm>
          <a:prstGeom prst="roundRect">
            <a:avLst>
              <a:gd name="adj" fmla="val 6061"/>
            </a:avLst>
          </a:prstGeom>
          <a:solidFill>
            <a:schemeClr val="bg2"/>
          </a:solidFill>
          <a:ln/>
        </p:spPr>
      </p:sp>
      <p:sp>
        <p:nvSpPr>
          <p:cNvPr id="5" name="título Gana la regresión logística"/>
          <p:cNvSpPr txBox="1"/>
          <p:nvPr/>
        </p:nvSpPr>
        <p:spPr>
          <a:xfrm>
            <a:off x="8046720" y="1481328"/>
            <a:ext cx="3383280" cy="365760"/>
          </a:xfrm>
          <a:prstGeom prst="rect">
            <a:avLst/>
          </a:prstGeom>
          <a:noFill/>
          <a:ln/>
        </p:spPr>
        <p:txBody>
          <a:bodyPr wrap="square" lIns="0" tIns="0" rIns="0" bIns="0" rtlCol="0" anchor="t"/>
          <a:lstStyle/>
          <a:p>
            <a:pPr indent="0" marL="0">
              <a:buNone/>
            </a:pPr>
            <a:r>
              <a:rPr lang="en-US" sz="1600" b="1" dirty="0">
                <a:solidFill>
                  <a:schemeClr val="accent2"/>
                </a:solidFill>
              </a:rPr>
              <a:t>Gana la regresión logística</a:t>
            </a:r>
            <a:endParaRPr lang="en-US" sz="1600" dirty="0"/>
          </a:p>
        </p:txBody>
      </p:sp>
      <p:sp>
        <p:nvSpPr>
          <p:cNvPr id="6" name="texto Gana la regresión logística"/>
          <p:cNvSpPr txBox="1"/>
          <p:nvPr/>
        </p:nvSpPr>
        <p:spPr>
          <a:xfrm>
            <a:off x="8046720" y="1901952"/>
            <a:ext cx="3383280" cy="914400"/>
          </a:xfrm>
          <a:prstGeom prst="rect">
            <a:avLst/>
          </a:prstGeom>
          <a:noFill/>
          <a:ln/>
        </p:spPr>
        <p:txBody>
          <a:bodyPr wrap="square" lIns="0" tIns="0" rIns="0" bIns="0" rtlCol="0" anchor="t"/>
          <a:lstStyle/>
          <a:p>
            <a:pPr indent="0" marL="0">
              <a:buNone/>
            </a:pPr>
            <a:r>
              <a:rPr lang="en-US" sz="1300" dirty="0">
                <a:solidFill>
                  <a:schemeClr val="tx1"/>
                </a:solidFill>
              </a:rPr>
              <a:t>F1 = 0,5983. Los tres primeros están a menos de 0,004 entre sí.</a:t>
            </a:r>
            <a:endParaRPr lang="en-US" sz="1300" dirty="0"/>
          </a:p>
        </p:txBody>
      </p:sp>
      <p:sp>
        <p:nvSpPr>
          <p:cNvPr id="7" name="tarjeta La diferencia es ruido"/>
          <p:cNvSpPr/>
          <p:nvPr/>
        </p:nvSpPr>
        <p:spPr>
          <a:xfrm>
            <a:off x="7863840" y="3017520"/>
            <a:ext cx="3749040" cy="1508760"/>
          </a:xfrm>
          <a:prstGeom prst="roundRect">
            <a:avLst>
              <a:gd name="adj" fmla="val 6061"/>
            </a:avLst>
          </a:prstGeom>
          <a:solidFill>
            <a:schemeClr val="bg2"/>
          </a:solidFill>
          <a:ln/>
        </p:spPr>
      </p:sp>
      <p:sp>
        <p:nvSpPr>
          <p:cNvPr id="8" name="título La diferencia es ruido"/>
          <p:cNvSpPr txBox="1"/>
          <p:nvPr/>
        </p:nvSpPr>
        <p:spPr>
          <a:xfrm>
            <a:off x="8046720" y="3127248"/>
            <a:ext cx="3383280" cy="365760"/>
          </a:xfrm>
          <a:prstGeom prst="rect">
            <a:avLst/>
          </a:prstGeom>
          <a:noFill/>
          <a:ln/>
        </p:spPr>
        <p:txBody>
          <a:bodyPr wrap="square" lIns="0" tIns="0" rIns="0" bIns="0" rtlCol="0" anchor="t"/>
          <a:lstStyle/>
          <a:p>
            <a:pPr indent="0" marL="0">
              <a:buNone/>
            </a:pPr>
            <a:r>
              <a:rPr lang="en-US" sz="1600" b="1" dirty="0">
                <a:solidFill>
                  <a:schemeClr val="accent2"/>
                </a:solidFill>
              </a:rPr>
              <a:t>La diferencia es ruido</a:t>
            </a:r>
            <a:endParaRPr lang="en-US" sz="1600" dirty="0"/>
          </a:p>
        </p:txBody>
      </p:sp>
      <p:sp>
        <p:nvSpPr>
          <p:cNvPr id="9" name="texto La diferencia es ruido"/>
          <p:cNvSpPr txBox="1"/>
          <p:nvPr/>
        </p:nvSpPr>
        <p:spPr>
          <a:xfrm>
            <a:off x="8046720" y="3547872"/>
            <a:ext cx="3383280" cy="914400"/>
          </a:xfrm>
          <a:prstGeom prst="rect">
            <a:avLst/>
          </a:prstGeom>
          <a:noFill/>
          <a:ln/>
        </p:spPr>
        <p:txBody>
          <a:bodyPr wrap="square" lIns="0" tIns="0" rIns="0" bIns="0" rtlCol="0" anchor="t"/>
          <a:lstStyle/>
          <a:p>
            <a:pPr indent="0" marL="0">
              <a:buNone/>
            </a:pPr>
            <a:r>
              <a:rPr lang="en-US" sz="1300" dirty="0">
                <a:solidFill>
                  <a:schemeClr val="tx1"/>
                </a:solidFill>
              </a:rPr>
              <a:t>El modelo ajustado tuvo una desviación de 0,028 en F1: las diferencias entre los primeros puestos son menores.</a:t>
            </a:r>
            <a:endParaRPr lang="en-US" sz="1300" dirty="0"/>
          </a:p>
        </p:txBody>
      </p:sp>
      <p:sp>
        <p:nvSpPr>
          <p:cNvPr id="10" name="tarjeta Por qué F1 y no accuracy"/>
          <p:cNvSpPr/>
          <p:nvPr/>
        </p:nvSpPr>
        <p:spPr>
          <a:xfrm>
            <a:off x="7863840" y="4663440"/>
            <a:ext cx="3749040" cy="1508760"/>
          </a:xfrm>
          <a:prstGeom prst="roundRect">
            <a:avLst>
              <a:gd name="adj" fmla="val 6061"/>
            </a:avLst>
          </a:prstGeom>
          <a:solidFill>
            <a:schemeClr val="bg2"/>
          </a:solidFill>
          <a:ln/>
        </p:spPr>
      </p:sp>
      <p:sp>
        <p:nvSpPr>
          <p:cNvPr id="11" name="título Por qué F1 y no accuracy"/>
          <p:cNvSpPr txBox="1"/>
          <p:nvPr/>
        </p:nvSpPr>
        <p:spPr>
          <a:xfrm>
            <a:off x="8046720" y="4773168"/>
            <a:ext cx="3383280" cy="365760"/>
          </a:xfrm>
          <a:prstGeom prst="rect">
            <a:avLst/>
          </a:prstGeom>
          <a:noFill/>
          <a:ln/>
        </p:spPr>
        <p:txBody>
          <a:bodyPr wrap="square" lIns="0" tIns="0" rIns="0" bIns="0" rtlCol="0" anchor="t"/>
          <a:lstStyle/>
          <a:p>
            <a:pPr indent="0" marL="0">
              <a:buNone/>
            </a:pPr>
            <a:r>
              <a:rPr lang="en-US" sz="1600" b="1" dirty="0">
                <a:solidFill>
                  <a:schemeClr val="accent2"/>
                </a:solidFill>
              </a:rPr>
              <a:t>Por qué F1 y no accuracy</a:t>
            </a:r>
            <a:endParaRPr lang="en-US" sz="1600" dirty="0"/>
          </a:p>
        </p:txBody>
      </p:sp>
      <p:sp>
        <p:nvSpPr>
          <p:cNvPr id="12" name="texto Por qué F1 y no accuracy"/>
          <p:cNvSpPr txBox="1"/>
          <p:nvPr/>
        </p:nvSpPr>
        <p:spPr>
          <a:xfrm>
            <a:off x="8046720" y="5193792"/>
            <a:ext cx="3383280" cy="914400"/>
          </a:xfrm>
          <a:prstGeom prst="rect">
            <a:avLst/>
          </a:prstGeom>
          <a:noFill/>
          <a:ln/>
        </p:spPr>
        <p:txBody>
          <a:bodyPr wrap="square" lIns="0" tIns="0" rIns="0" bIns="0" rtlCol="0" anchor="t"/>
          <a:lstStyle/>
          <a:p>
            <a:pPr indent="0" marL="0">
              <a:buNone/>
            </a:pPr>
            <a:r>
              <a:rPr lang="en-US" sz="1300" dirty="0">
                <a:solidFill>
                  <a:schemeClr val="tx1"/>
                </a:solidFill>
              </a:rPr>
              <a:t>El Dummy tiene accuracy de 0,7346 con recall de 0: acierta mucho sin detectar a nadie.</a:t>
            </a:r>
            <a:endParaRPr lang="en-US" sz="13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La alternativa: regresión logística hecha a mano</a:t>
            </a:r>
            <a:endParaRPr lang="en-US" sz="3000" dirty="0"/>
          </a:p>
        </p:txBody>
      </p:sp>
      <p:sp>
        <p:nvSpPr>
          <p:cNvPr id="3" name="paso 1"/>
          <p:cNvSpPr/>
          <p:nvPr/>
        </p:nvSpPr>
        <p:spPr>
          <a:xfrm>
            <a:off x="548640" y="1371600"/>
            <a:ext cx="2468880" cy="1371600"/>
          </a:xfrm>
          <a:prstGeom prst="roundRect">
            <a:avLst>
              <a:gd name="adj" fmla="val 5333"/>
            </a:avLst>
          </a:prstGeom>
          <a:solidFill>
            <a:schemeClr val="tx2"/>
          </a:solidFill>
          <a:ln/>
        </p:spPr>
      </p:sp>
      <p:sp>
        <p:nvSpPr>
          <p:cNvPr id="4" name="texto paso 1"/>
          <p:cNvSpPr txBox="1"/>
          <p:nvPr/>
        </p:nvSpPr>
        <p:spPr>
          <a:xfrm>
            <a:off x="658368" y="1371600"/>
            <a:ext cx="2249424" cy="1371600"/>
          </a:xfrm>
          <a:prstGeom prst="rect">
            <a:avLst/>
          </a:prstGeom>
          <a:noFill/>
          <a:ln/>
        </p:spPr>
        <p:txBody>
          <a:bodyPr wrap="square" lIns="0" tIns="0" rIns="0" bIns="0" rtlCol="0" anchor="ctr"/>
          <a:lstStyle/>
          <a:p>
            <a:pPr algn="ctr" indent="0" marL="0">
              <a:buNone/>
            </a:pPr>
            <a:r>
              <a:rPr lang="en-US" sz="1600" b="1" dirty="0">
                <a:solidFill>
                  <a:schemeClr val="bg1"/>
                </a:solidFill>
              </a:rPr>
              <a:t>Datos de entrenamiento</a:t>
            </a:r>
            <a:endParaRPr lang="en-US" sz="1600" dirty="0"/>
          </a:p>
          <a:p>
            <a:pPr algn="ctr" indent="0" marL="0">
              <a:buNone/>
            </a:pPr>
            <a:r>
              <a:rPr lang="en-US" sz="1300" dirty="0">
                <a:solidFill>
                  <a:schemeClr val="bg1"/>
                </a:solidFill>
              </a:rPr>
              <a:t>5.634 clientes</a:t>
            </a:r>
            <a:endParaRPr lang="en-US" sz="1600" dirty="0"/>
          </a:p>
        </p:txBody>
      </p:sp>
      <p:sp>
        <p:nvSpPr>
          <p:cNvPr id="5" name="flecha 1"/>
          <p:cNvSpPr/>
          <p:nvPr/>
        </p:nvSpPr>
        <p:spPr>
          <a:xfrm>
            <a:off x="3072384" y="1892808"/>
            <a:ext cx="310896" cy="329184"/>
          </a:xfrm>
          <a:prstGeom prst="rightArrow">
            <a:avLst/>
          </a:prstGeom>
          <a:solidFill>
            <a:schemeClr val="accent5"/>
          </a:solidFill>
          <a:ln/>
        </p:spPr>
      </p:sp>
      <p:sp>
        <p:nvSpPr>
          <p:cNvPr id="6" name="paso 2"/>
          <p:cNvSpPr/>
          <p:nvPr/>
        </p:nvSpPr>
        <p:spPr>
          <a:xfrm>
            <a:off x="3410712" y="1371600"/>
            <a:ext cx="2468880" cy="1371600"/>
          </a:xfrm>
          <a:prstGeom prst="roundRect">
            <a:avLst>
              <a:gd name="adj" fmla="val 5333"/>
            </a:avLst>
          </a:prstGeom>
          <a:solidFill>
            <a:schemeClr val="tx2"/>
          </a:solidFill>
          <a:ln/>
        </p:spPr>
      </p:sp>
      <p:sp>
        <p:nvSpPr>
          <p:cNvPr id="7" name="texto paso 2"/>
          <p:cNvSpPr txBox="1"/>
          <p:nvPr/>
        </p:nvSpPr>
        <p:spPr>
          <a:xfrm>
            <a:off x="3520440" y="1371600"/>
            <a:ext cx="2249424" cy="1371600"/>
          </a:xfrm>
          <a:prstGeom prst="rect">
            <a:avLst/>
          </a:prstGeom>
          <a:noFill/>
          <a:ln/>
        </p:spPr>
        <p:txBody>
          <a:bodyPr wrap="square" lIns="0" tIns="0" rIns="0" bIns="0" rtlCol="0" anchor="ctr"/>
          <a:lstStyle/>
          <a:p>
            <a:pPr algn="ctr" indent="0" marL="0">
              <a:buNone/>
            </a:pPr>
            <a:r>
              <a:rPr lang="en-US" sz="1600" b="1" dirty="0">
                <a:solidFill>
                  <a:schemeClr val="bg1"/>
                </a:solidFill>
              </a:rPr>
              <a:t>ColumnTransformer</a:t>
            </a:r>
            <a:endParaRPr lang="en-US" sz="1600" dirty="0"/>
          </a:p>
          <a:p>
            <a:pPr algn="ctr" indent="0" marL="0">
              <a:buNone/>
            </a:pPr>
            <a:r>
              <a:rPr lang="en-US" sz="1300" dirty="0">
                <a:solidFill>
                  <a:schemeClr val="bg1"/>
                </a:solidFill>
              </a:rPr>
              <a:t>StandardScaler + OneHotEncoder</a:t>
            </a:r>
            <a:endParaRPr lang="en-US" sz="1600" dirty="0"/>
          </a:p>
        </p:txBody>
      </p:sp>
      <p:sp>
        <p:nvSpPr>
          <p:cNvPr id="8" name="flecha 2"/>
          <p:cNvSpPr/>
          <p:nvPr/>
        </p:nvSpPr>
        <p:spPr>
          <a:xfrm>
            <a:off x="5934456" y="1892808"/>
            <a:ext cx="310896" cy="329184"/>
          </a:xfrm>
          <a:prstGeom prst="rightArrow">
            <a:avLst/>
          </a:prstGeom>
          <a:solidFill>
            <a:schemeClr val="accent5"/>
          </a:solidFill>
          <a:ln/>
        </p:spPr>
      </p:sp>
      <p:sp>
        <p:nvSpPr>
          <p:cNvPr id="9" name="paso 3"/>
          <p:cNvSpPr/>
          <p:nvPr/>
        </p:nvSpPr>
        <p:spPr>
          <a:xfrm>
            <a:off x="6272784" y="1371600"/>
            <a:ext cx="2468880" cy="1371600"/>
          </a:xfrm>
          <a:prstGeom prst="roundRect">
            <a:avLst>
              <a:gd name="adj" fmla="val 5333"/>
            </a:avLst>
          </a:prstGeom>
          <a:solidFill>
            <a:schemeClr val="tx2"/>
          </a:solidFill>
          <a:ln/>
        </p:spPr>
      </p:sp>
      <p:sp>
        <p:nvSpPr>
          <p:cNvPr id="10" name="texto paso 3"/>
          <p:cNvSpPr txBox="1"/>
          <p:nvPr/>
        </p:nvSpPr>
        <p:spPr>
          <a:xfrm>
            <a:off x="6382512" y="1371600"/>
            <a:ext cx="2249424" cy="1371600"/>
          </a:xfrm>
          <a:prstGeom prst="rect">
            <a:avLst/>
          </a:prstGeom>
          <a:noFill/>
          <a:ln/>
        </p:spPr>
        <p:txBody>
          <a:bodyPr wrap="square" lIns="0" tIns="0" rIns="0" bIns="0" rtlCol="0" anchor="ctr"/>
          <a:lstStyle/>
          <a:p>
            <a:pPr algn="ctr" indent="0" marL="0">
              <a:buNone/>
            </a:pPr>
            <a:r>
              <a:rPr lang="en-US" sz="1600" b="1" dirty="0">
                <a:solidFill>
                  <a:schemeClr val="bg1"/>
                </a:solidFill>
              </a:rPr>
              <a:t>LogisticRegression</a:t>
            </a:r>
            <a:endParaRPr lang="en-US" sz="1600" dirty="0"/>
          </a:p>
          <a:p>
            <a:pPr algn="ctr" indent="0" marL="0">
              <a:buNone/>
            </a:pPr>
            <a:r>
              <a:rPr lang="en-US" sz="1300" dirty="0">
                <a:solidFill>
                  <a:schemeClr val="bg1"/>
                </a:solidFill>
              </a:rPr>
              <a:t>max_iter = 1000</a:t>
            </a:r>
            <a:endParaRPr lang="en-US" sz="1600" dirty="0"/>
          </a:p>
        </p:txBody>
      </p:sp>
      <p:sp>
        <p:nvSpPr>
          <p:cNvPr id="11" name="flecha 3"/>
          <p:cNvSpPr/>
          <p:nvPr/>
        </p:nvSpPr>
        <p:spPr>
          <a:xfrm>
            <a:off x="8796528" y="1892808"/>
            <a:ext cx="310896" cy="329184"/>
          </a:xfrm>
          <a:prstGeom prst="rightArrow">
            <a:avLst/>
          </a:prstGeom>
          <a:solidFill>
            <a:schemeClr val="accent5"/>
          </a:solidFill>
          <a:ln/>
        </p:spPr>
      </p:sp>
      <p:sp>
        <p:nvSpPr>
          <p:cNvPr id="12" name="paso 4"/>
          <p:cNvSpPr/>
          <p:nvPr/>
        </p:nvSpPr>
        <p:spPr>
          <a:xfrm>
            <a:off x="9134856" y="1371600"/>
            <a:ext cx="2468880" cy="1371600"/>
          </a:xfrm>
          <a:prstGeom prst="roundRect">
            <a:avLst>
              <a:gd name="adj" fmla="val 5333"/>
            </a:avLst>
          </a:prstGeom>
          <a:solidFill>
            <a:schemeClr val="accent2"/>
          </a:solidFill>
          <a:ln/>
        </p:spPr>
      </p:sp>
      <p:sp>
        <p:nvSpPr>
          <p:cNvPr id="13" name="texto paso 4"/>
          <p:cNvSpPr txBox="1"/>
          <p:nvPr/>
        </p:nvSpPr>
        <p:spPr>
          <a:xfrm>
            <a:off x="9244584" y="1371600"/>
            <a:ext cx="2249424" cy="1371600"/>
          </a:xfrm>
          <a:prstGeom prst="rect">
            <a:avLst/>
          </a:prstGeom>
          <a:noFill/>
          <a:ln/>
        </p:spPr>
        <p:txBody>
          <a:bodyPr wrap="square" lIns="0" tIns="0" rIns="0" bIns="0" rtlCol="0" anchor="ctr"/>
          <a:lstStyle/>
          <a:p>
            <a:pPr algn="ctr" indent="0" marL="0">
              <a:buNone/>
            </a:pPr>
            <a:r>
              <a:rPr lang="en-US" sz="1600" b="1" dirty="0">
                <a:solidFill>
                  <a:schemeClr val="bg1"/>
                </a:solidFill>
              </a:rPr>
              <a:t>GridSearchCV</a:t>
            </a:r>
            <a:endParaRPr lang="en-US" sz="1600" dirty="0"/>
          </a:p>
          <a:p>
            <a:pPr algn="ctr" indent="0" marL="0">
              <a:buNone/>
            </a:pPr>
            <a:r>
              <a:rPr lang="en-US" sz="1300" dirty="0">
                <a:solidFill>
                  <a:schemeClr val="bg1"/>
                </a:solidFill>
              </a:rPr>
              <a:t>10 pliegues × 80 combinaciones = 800 ajustes</a:t>
            </a:r>
            <a:endParaRPr lang="en-US" sz="1600" dirty="0"/>
          </a:p>
        </p:txBody>
      </p:sp>
      <p:sp>
        <p:nvSpPr>
          <p:cNvPr id="14" name="mejores hiperparámetros"/>
          <p:cNvSpPr/>
          <p:nvPr/>
        </p:nvSpPr>
        <p:spPr>
          <a:xfrm>
            <a:off x="548640" y="3017520"/>
            <a:ext cx="5440680" cy="2194560"/>
          </a:xfrm>
          <a:prstGeom prst="roundRect">
            <a:avLst>
              <a:gd name="adj" fmla="val 4167"/>
            </a:avLst>
          </a:prstGeom>
          <a:solidFill>
            <a:schemeClr val="bg2"/>
          </a:solidFill>
          <a:ln/>
        </p:spPr>
      </p:sp>
      <p:sp>
        <p:nvSpPr>
          <p:cNvPr id="15" name="título hiperparámetros"/>
          <p:cNvSpPr txBox="1"/>
          <p:nvPr/>
        </p:nvSpPr>
        <p:spPr>
          <a:xfrm>
            <a:off x="777240" y="3154680"/>
            <a:ext cx="4937760" cy="4114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Mejores hiperparámetros</a:t>
            </a:r>
            <a:endParaRPr lang="en-US" sz="1800" dirty="0"/>
          </a:p>
        </p:txBody>
      </p:sp>
      <p:sp>
        <p:nvSpPr>
          <p:cNvPr id="16" name="lista hiperparámetros"/>
          <p:cNvSpPr txBox="1"/>
          <p:nvPr/>
        </p:nvSpPr>
        <p:spPr>
          <a:xfrm>
            <a:off x="777240" y="3657600"/>
            <a:ext cx="4937760" cy="14630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C = 0,428</a:t>
            </a:r>
            <a:endParaRPr lang="en-US" sz="1600" dirty="0"/>
          </a:p>
          <a:p>
            <a:pPr marL="342900" indent="-342900">
              <a:spcAft>
                <a:spcPts val="600"/>
              </a:spcAft>
              <a:buSzPct val="100000"/>
              <a:buChar char="•"/>
            </a:pPr>
            <a:r>
              <a:rPr lang="en-US" sz="1600" dirty="0">
                <a:solidFill>
                  <a:schemeClr val="tx1"/>
                </a:solidFill>
              </a:rPr>
              <a:t>class_weight = "balanced"</a:t>
            </a:r>
            <a:endParaRPr lang="en-US" sz="1600" dirty="0"/>
          </a:p>
          <a:p>
            <a:pPr marL="342900" indent="-342900">
              <a:buSzPct val="100000"/>
              <a:buChar char="•"/>
            </a:pPr>
            <a:r>
              <a:rPr lang="en-US" sz="1600" dirty="0">
                <a:solidFill>
                  <a:schemeClr val="tx1"/>
                </a:solidFill>
              </a:rPr>
              <a:t>solver = "liblinear"</a:t>
            </a:r>
            <a:endParaRPr lang="en-US" sz="1600" dirty="0"/>
          </a:p>
        </p:txBody>
      </p:sp>
      <p:sp>
        <p:nvSpPr>
          <p:cNvPr id="17" name="resultados de la búsqueda"/>
          <p:cNvSpPr/>
          <p:nvPr/>
        </p:nvSpPr>
        <p:spPr>
          <a:xfrm>
            <a:off x="6199632" y="3017520"/>
            <a:ext cx="5413248" cy="2194560"/>
          </a:xfrm>
          <a:prstGeom prst="roundRect">
            <a:avLst>
              <a:gd name="adj" fmla="val 4167"/>
            </a:avLst>
          </a:prstGeom>
          <a:solidFill>
            <a:schemeClr val="bg2"/>
          </a:solidFill>
          <a:ln/>
        </p:spPr>
      </p:sp>
      <p:sp>
        <p:nvSpPr>
          <p:cNvPr id="18" name="título resultado"/>
          <p:cNvSpPr txBox="1"/>
          <p:nvPr/>
        </p:nvSpPr>
        <p:spPr>
          <a:xfrm>
            <a:off x="6428232" y="3154680"/>
            <a:ext cx="4937760" cy="4114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Resultado de la búsqueda</a:t>
            </a:r>
            <a:endParaRPr lang="en-US" sz="1800" dirty="0"/>
          </a:p>
        </p:txBody>
      </p:sp>
      <p:sp>
        <p:nvSpPr>
          <p:cNvPr id="19" name="lista resultado"/>
          <p:cNvSpPr txBox="1"/>
          <p:nvPr/>
        </p:nvSpPr>
        <p:spPr>
          <a:xfrm>
            <a:off x="6428232" y="3657600"/>
            <a:ext cx="4937760" cy="14630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F1 en validación cruzada: 0,6305 ± 0,0262</a:t>
            </a:r>
            <a:endParaRPr lang="en-US" sz="1600" dirty="0"/>
          </a:p>
          <a:p>
            <a:pPr marL="342900" indent="-342900">
              <a:spcAft>
                <a:spcPts val="600"/>
              </a:spcAft>
              <a:buSzPct val="100000"/>
              <a:buChar char="•"/>
            </a:pPr>
            <a:r>
              <a:rPr lang="en-US" sz="1600" dirty="0">
                <a:solidFill>
                  <a:schemeClr val="tx1"/>
                </a:solidFill>
              </a:rPr>
              <a:t>F1 en el test: 0,6130 · ROC-AUC: 0,8417</a:t>
            </a:r>
            <a:endParaRPr lang="en-US" sz="1600" dirty="0"/>
          </a:p>
          <a:p>
            <a:pPr marL="342900" indent="-342900">
              <a:buSzPct val="100000"/>
              <a:buChar char="•"/>
            </a:pPr>
            <a:r>
              <a:rPr lang="en-US" sz="1600" dirty="0">
                <a:solidFill>
                  <a:schemeClr val="tx1"/>
                </a:solidFill>
              </a:rPr>
              <a:t>Tiempo de la búsqueda: 85,4 s</a:t>
            </a:r>
            <a:endParaRPr lang="en-US" sz="1600" dirty="0"/>
          </a:p>
        </p:txBody>
      </p:sp>
      <p:sp>
        <p:nvSpPr>
          <p:cNvPr id="20" name="explicación del Pipeline"/>
          <p:cNvSpPr txBox="1"/>
          <p:nvPr/>
        </p:nvSpPr>
        <p:spPr>
          <a:xfrm>
            <a:off x="548640" y="5440680"/>
            <a:ext cx="11064240" cy="731520"/>
          </a:xfrm>
          <a:prstGeom prst="rect">
            <a:avLst/>
          </a:prstGeom>
          <a:noFill/>
          <a:ln/>
        </p:spPr>
        <p:txBody>
          <a:bodyPr wrap="square" lIns="0" tIns="0" rIns="0" bIns="0" rtlCol="0" anchor="t"/>
          <a:lstStyle/>
          <a:p>
            <a:pPr indent="0" marL="0">
              <a:buNone/>
            </a:pPr>
            <a:r>
              <a:rPr lang="en-US" sz="1400" b="1" dirty="0">
                <a:solidFill>
                  <a:schemeClr val="tx2"/>
                </a:solidFill>
              </a:rPr>
              <a:t>Por qué un Pipeline: </a:t>
            </a:r>
            <a:pPr indent="0" marL="0">
              <a:buNone/>
            </a:pPr>
            <a:r>
              <a:rPr lang="en-US" sz="1400" dirty="0">
                <a:solidFill>
                  <a:schemeClr val="tx1"/>
                </a:solidFill>
              </a:rPr>
              <a:t>el escalado y la codificación se ajustan solo con los pliegues de entrenamiento en cada iteración, así no hay fuga de datos hacia la validación.</a:t>
            </a:r>
            <a:endParaRPr lang="en-US" sz="14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Resultados en el test: los tres modelos rinden igual</a:t>
            </a:r>
            <a:endParaRPr lang="en-US" sz="3000" dirty="0"/>
          </a:p>
        </p:txBody>
      </p:sp>
      <p:graphicFrame>
        <p:nvGraphicFramePr>
          <p:cNvPr id="13" name="tabla de resultados"/>
          <p:cNvGraphicFramePr>
            <a:graphicFrameLocks noGrp="1"/>
          </p:cNvGraphicFramePr>
          <p:nvPr>
            <p:extLst>
              <p:ext uri="{D42A27DB-BD31-4B8C-83A1-F6EECF244321}">
                <p14:modId xmlns:p14="http://schemas.microsoft.com/office/powerpoint/2010/main" val="1579011935"/>
              </p:ext>
            </p:extLst>
          </p:nvPr>
        </p:nvGraphicFramePr>
        <p:xfrm>
          <a:off x="548640" y="1371600"/>
          <a:ext cx="6583680" cy="914400"/>
        </p:xfrm>
        <a:graphic>
          <a:graphicData uri="http://schemas.openxmlformats.org/drawingml/2006/table">
            <a:tbl>
              <a:tblPr/>
              <a:tblGrid>
                <a:gridCol w="2651760"/>
                <a:gridCol w="914400"/>
                <a:gridCol w="1005840"/>
                <a:gridCol w="914400"/>
                <a:gridCol w="1097280"/>
              </a:tblGrid>
              <a:tr h="457200">
                <a:tc>
                  <a:txBody>
                    <a:bodyPr/>
                    <a:lstStyle/>
                    <a:p>
                      <a:pPr indent="0" marL="0">
                        <a:buNone/>
                      </a:pPr>
                      <a:r>
                        <a:rPr lang="en-US" sz="1300" b="1" dirty="0">
                          <a:solidFill>
                            <a:schemeClr val="bg1"/>
                          </a:solidFill>
                        </a:rPr>
                        <a:t>Modelo</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F1</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Precisión</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Recall</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ROC-AUC</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48640">
                <a:tc>
                  <a:txBody>
                    <a:bodyPr/>
                    <a:lstStyle/>
                    <a:p>
                      <a:pPr indent="0" marL="0">
                        <a:buNone/>
                      </a:pPr>
                      <a:r>
                        <a:rPr lang="en-US" sz="1300" b="1" dirty="0">
                          <a:solidFill>
                            <a:schemeClr val="tx1"/>
                          </a:solidFill>
                        </a:rPr>
                        <a:t>PyCaret (LogisticRegression)</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0,6164</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0,5069</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0,7861</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0,8419</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indent="0" marL="0">
                        <a:buNone/>
                      </a:pPr>
                      <a:r>
                        <a:rPr lang="en-US" sz="1300" b="1" dirty="0">
                          <a:solidFill>
                            <a:schemeClr val="tx1"/>
                          </a:solidFill>
                        </a:rPr>
                        <a:t>Regresión logística base</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0,6136</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0,5043</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0,7834</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0,8416</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48640">
                <a:tc>
                  <a:txBody>
                    <a:bodyPr/>
                    <a:lstStyle/>
                    <a:p>
                      <a:pPr indent="0" marL="0">
                        <a:buNone/>
                      </a:pPr>
                      <a:r>
                        <a:rPr lang="en-US" sz="1300" b="1" dirty="0">
                          <a:solidFill>
                            <a:schemeClr val="tx1"/>
                          </a:solidFill>
                        </a:rPr>
                        <a:t>Regresión logística + GridSearchCV</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0,6130</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0,5034</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0,7834</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rPr>
                        <a:t>0,8417</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4" name="tarjeta de interpretación"/>
          <p:cNvSpPr/>
          <p:nvPr/>
        </p:nvSpPr>
        <p:spPr>
          <a:xfrm>
            <a:off x="548640" y="3749040"/>
            <a:ext cx="6583680" cy="2377440"/>
          </a:xfrm>
          <a:prstGeom prst="roundRect">
            <a:avLst>
              <a:gd name="adj" fmla="val 3846"/>
            </a:avLst>
          </a:prstGeom>
          <a:solidFill>
            <a:schemeClr val="bg2"/>
          </a:solidFill>
          <a:ln/>
        </p:spPr>
      </p:sp>
      <p:sp>
        <p:nvSpPr>
          <p:cNvPr id="5" name="título interpretación"/>
          <p:cNvSpPr txBox="1"/>
          <p:nvPr/>
        </p:nvSpPr>
        <p:spPr>
          <a:xfrm>
            <a:off x="777240" y="3886200"/>
            <a:ext cx="6126480" cy="411480"/>
          </a:xfrm>
          <a:prstGeom prst="rect">
            <a:avLst/>
          </a:prstGeom>
          <a:noFill/>
          <a:ln/>
        </p:spPr>
        <p:txBody>
          <a:bodyPr wrap="square" lIns="0" tIns="0" rIns="0" bIns="0" rtlCol="0" anchor="t"/>
          <a:lstStyle/>
          <a:p>
            <a:pPr indent="0" marL="0">
              <a:buNone/>
            </a:pPr>
            <a:r>
              <a:rPr lang="en-US" sz="1800" b="1" dirty="0">
                <a:solidFill>
                  <a:schemeClr val="accent2"/>
                </a:solidFill>
                <a:latin typeface="Cambria" pitchFamily="34" charset="0"/>
                <a:ea typeface="Cambria" pitchFamily="34" charset="-122"/>
                <a:cs typeface="Cambria" pitchFamily="34" charset="-120"/>
              </a:rPr>
              <a:t>¿Hay diferencia real?</a:t>
            </a:r>
            <a:endParaRPr lang="en-US" sz="1800" dirty="0"/>
          </a:p>
        </p:txBody>
      </p:sp>
      <p:sp>
        <p:nvSpPr>
          <p:cNvPr id="6" name="lista de interpretación"/>
          <p:cNvSpPr txBox="1"/>
          <p:nvPr/>
        </p:nvSpPr>
        <p:spPr>
          <a:xfrm>
            <a:off x="777240" y="4389120"/>
            <a:ext cx="6172200" cy="16916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PyCaret − regresión base: F1 +0,0027, con IC 95 % de −0,0012 a 0,0077.</a:t>
            </a:r>
            <a:endParaRPr lang="en-US" sz="1400" dirty="0"/>
          </a:p>
          <a:p>
            <a:pPr marL="342900" indent="-342900">
              <a:spcAft>
                <a:spcPts val="600"/>
              </a:spcAft>
              <a:buSzPct val="100000"/>
              <a:buChar char="•"/>
            </a:pPr>
            <a:r>
              <a:rPr lang="en-US" sz="1400" dirty="0">
                <a:solidFill>
                  <a:schemeClr val="tx1"/>
                </a:solidFill>
              </a:rPr>
              <a:t>En las 8 diferencias calculadas (4 métricas × 2 comparaciones), el IC incluye el 0.</a:t>
            </a:r>
            <a:endParaRPr lang="en-US" sz="1400" dirty="0"/>
          </a:p>
          <a:p>
            <a:pPr marL="342900" indent="-342900">
              <a:buSzPct val="100000"/>
              <a:buChar char="•"/>
            </a:pPr>
            <a:r>
              <a:rPr lang="en-US" sz="1400" dirty="0">
                <a:solidFill>
                  <a:schemeClr val="tx1"/>
                </a:solidFill>
              </a:rPr>
              <a:t>El IC del F1 de un solo modelo mide unos 0,07: más de 20 veces la diferencia observada.</a:t>
            </a:r>
            <a:endParaRPr lang="en-US" sz="1400" dirty="0"/>
          </a:p>
        </p:txBody>
      </p:sp>
      <p:sp>
        <p:nvSpPr>
          <p:cNvPr id="7" name="marco de la curva ROC"/>
          <p:cNvSpPr/>
          <p:nvPr/>
        </p:nvSpPr>
        <p:spPr>
          <a:xfrm>
            <a:off x="7498080" y="1371600"/>
            <a:ext cx="4114800" cy="4023360"/>
          </a:xfrm>
          <a:prstGeom prst="roundRect">
            <a:avLst>
              <a:gd name="adj" fmla="val 2273"/>
            </a:avLst>
          </a:prstGeom>
          <a:solidFill>
            <a:schemeClr val="bg1"/>
          </a:solidFill>
          <a:ln/>
        </p:spPr>
      </p:sp>
      <p:pic>
        <p:nvPicPr>
          <p:cNvPr id="8" name="curva ROC conjunta" descr="Curvas ROC de los tres modelos: se superponen">    </p:cNvPr>
          <p:cNvPicPr>
            <a:picLocks noChangeAspect="1"/>
          </p:cNvPicPr>
          <p:nvPr/>
        </p:nvPicPr>
        <p:blipFill>
          <a:blip r:embed="rId1"/>
          <a:stretch>
            <a:fillRect/>
          </a:stretch>
        </p:blipFill>
        <p:spPr>
          <a:xfrm>
            <a:off x="7589520" y="1498808"/>
            <a:ext cx="3931920" cy="3311743"/>
          </a:xfrm>
          <a:prstGeom prst="rect">
            <a:avLst/>
          </a:prstGeom>
        </p:spPr>
      </p:pic>
      <p:sp>
        <p:nvSpPr>
          <p:cNvPr id="9" name="pie de curva ROC"/>
          <p:cNvSpPr txBox="1"/>
          <p:nvPr/>
        </p:nvSpPr>
        <p:spPr>
          <a:xfrm>
            <a:off x="7498080" y="4937760"/>
            <a:ext cx="4114800" cy="411480"/>
          </a:xfrm>
          <a:prstGeom prst="rect">
            <a:avLst/>
          </a:prstGeom>
          <a:noFill/>
          <a:ln/>
        </p:spPr>
        <p:txBody>
          <a:bodyPr wrap="square" lIns="0" tIns="0" rIns="0" bIns="0" rtlCol="0" anchor="t"/>
          <a:lstStyle/>
          <a:p>
            <a:pPr algn="ctr" indent="0" marL="0">
              <a:buNone/>
            </a:pPr>
            <a:r>
              <a:rPr lang="en-US" sz="1200" dirty="0">
                <a:solidFill>
                  <a:schemeClr val="accent5"/>
                </a:solidFill>
              </a:rPr>
              <a:t>Las tres curvas ROC prácticamente se superponen.</a:t>
            </a:r>
            <a:endParaRPr lang="en-US" sz="1200" dirty="0"/>
          </a:p>
        </p:txBody>
      </p:sp>
      <p:sp>
        <p:nvSpPr>
          <p:cNvPr id="10" name="nota del bootstrap"/>
          <p:cNvSpPr txBox="1"/>
          <p:nvPr/>
        </p:nvSpPr>
        <p:spPr>
          <a:xfrm>
            <a:off x="7498080" y="5577840"/>
            <a:ext cx="4114800" cy="548640"/>
          </a:xfrm>
          <a:prstGeom prst="rect">
            <a:avLst/>
          </a:prstGeom>
          <a:noFill/>
          <a:ln/>
        </p:spPr>
        <p:txBody>
          <a:bodyPr wrap="square" lIns="0" tIns="0" rIns="0" bIns="0" rtlCol="0" anchor="t"/>
          <a:lstStyle/>
          <a:p>
            <a:pPr indent="0" marL="0">
              <a:buNone/>
            </a:pPr>
            <a:r>
              <a:rPr lang="en-US" sz="1200" dirty="0">
                <a:solidFill>
                  <a:schemeClr val="accent5"/>
                </a:solidFill>
              </a:rPr>
              <a:t>IC 95 %: bootstrap con 1.000 remuestreos del test, con las mismas filas para los tres modelos.</a:t>
            </a:r>
            <a:endParaRPr lang="en-US" sz="12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¿Qué variables pesan? Ambos modelos coinciden</a:t>
            </a:r>
            <a:endParaRPr lang="en-US" sz="3000" dirty="0"/>
          </a:p>
        </p:txBody>
      </p:sp>
      <p:pic>
        <p:nvPicPr>
          <p:cNvPr id="3" name="coeficientes de la regresión logística" descr="Coeficientes más positivos y más negativos de la regresión logística">    </p:cNvPr>
          <p:cNvPicPr>
            <a:picLocks noChangeAspect="1"/>
          </p:cNvPicPr>
          <p:nvPr/>
        </p:nvPicPr>
        <p:blipFill>
          <a:blip r:embed="rId1"/>
          <a:stretch>
            <a:fillRect/>
          </a:stretch>
        </p:blipFill>
        <p:spPr>
          <a:xfrm>
            <a:off x="548640" y="1574824"/>
            <a:ext cx="5486400" cy="4348433"/>
          </a:xfrm>
          <a:prstGeom prst="rect">
            <a:avLst/>
          </a:prstGeom>
        </p:spPr>
      </p:pic>
      <p:pic>
        <p:nvPicPr>
          <p:cNvPr id="4" name="importancia de variables de PyCaret" descr="Importancia de variables del modelo de PyCaret">    </p:cNvPr>
          <p:cNvPicPr>
            <a:picLocks noChangeAspect="1"/>
          </p:cNvPicPr>
          <p:nvPr/>
        </p:nvPicPr>
        <p:blipFill>
          <a:blip r:embed="rId2"/>
          <a:stretch>
            <a:fillRect/>
          </a:stretch>
        </p:blipFill>
        <p:spPr>
          <a:xfrm>
            <a:off x="6309360" y="1287226"/>
            <a:ext cx="5303520" cy="2820508"/>
          </a:xfrm>
          <a:prstGeom prst="rect">
            <a:avLst/>
          </a:prstGeom>
        </p:spPr>
      </p:pic>
      <p:sp>
        <p:nvSpPr>
          <p:cNvPr id="5" name="conclusiones de variables"/>
          <p:cNvSpPr/>
          <p:nvPr/>
        </p:nvSpPr>
        <p:spPr>
          <a:xfrm>
            <a:off x="6309360" y="4297680"/>
            <a:ext cx="5303520" cy="1920240"/>
          </a:xfrm>
          <a:prstGeom prst="roundRect">
            <a:avLst>
              <a:gd name="adj" fmla="val 4762"/>
            </a:avLst>
          </a:prstGeom>
          <a:solidFill>
            <a:schemeClr val="bg2"/>
          </a:solidFill>
          <a:ln/>
        </p:spPr>
      </p:sp>
      <p:sp>
        <p:nvSpPr>
          <p:cNvPr id="6" name="lista de variables"/>
          <p:cNvSpPr txBox="1"/>
          <p:nvPr/>
        </p:nvSpPr>
        <p:spPr>
          <a:xfrm>
            <a:off x="6492240" y="4389120"/>
            <a:ext cx="4937760" cy="1737360"/>
          </a:xfrm>
          <a:prstGeom prst="rect">
            <a:avLst/>
          </a:prstGeom>
          <a:noFill/>
          <a:ln/>
        </p:spPr>
        <p:txBody>
          <a:bodyPr wrap="square" lIns="0" tIns="0" rIns="0" bIns="0" rtlCol="0" anchor="ctr"/>
          <a:lstStyle/>
          <a:p>
            <a:pPr marL="342900" indent="-342900">
              <a:spcAft>
                <a:spcPts val="500"/>
              </a:spcAft>
              <a:buSzPct val="100000"/>
              <a:buChar char="•"/>
            </a:pPr>
            <a:r>
              <a:rPr lang="en-US" sz="1300" dirty="0">
                <a:solidFill>
                  <a:schemeClr val="tx1"/>
                </a:solidFill>
              </a:rPr>
              <a:t>Las 10 variables comunes tienen el mismo signo en ambos modelos.</a:t>
            </a:r>
            <a:endParaRPr lang="en-US" sz="1300" dirty="0"/>
          </a:p>
          <a:p>
            <a:pPr marL="342900" indent="-342900">
              <a:spcAft>
                <a:spcPts val="500"/>
              </a:spcAft>
              <a:buSzPct val="100000"/>
              <a:buChar char="•"/>
            </a:pPr>
            <a:r>
              <a:rPr lang="en-US" sz="1300" dirty="0">
                <a:solidFill>
                  <a:schemeClr val="tx1"/>
                </a:solidFill>
              </a:rPr>
              <a:t>Contrato mes a mes y fibra óptica se asocian con más churn; contrato de dos años y DSL, con menos.</a:t>
            </a:r>
            <a:endParaRPr lang="en-US" sz="1300" dirty="0"/>
          </a:p>
          <a:p>
            <a:pPr marL="342900" indent="-342900">
              <a:buSzPct val="100000"/>
              <a:buChar char="•"/>
            </a:pPr>
            <a:r>
              <a:rPr lang="en-US" sz="1300" dirty="0">
                <a:solidFill>
                  <a:schemeClr val="tx1"/>
                </a:solidFill>
              </a:rPr>
              <a:t>Es asociación, no causalidad. Las magnitudes no son comparables: PyCaret no escala.</a:t>
            </a:r>
            <a:endParaRPr lang="en-US" sz="13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Comparación 1: PyCaret vs. scikit-learn</a:t>
            </a:r>
            <a:endParaRPr lang="en-US" sz="3000" dirty="0"/>
          </a:p>
        </p:txBody>
      </p:sp>
      <p:graphicFrame>
        <p:nvGraphicFramePr>
          <p:cNvPr id="15" name="tabla comparación medida"/>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566160"/>
                <a:gridCol w="3383280"/>
                <a:gridCol w="4114800"/>
              </a:tblGrid>
              <a:tr h="457200">
                <a:tc>
                  <a:txBody>
                    <a:bodyPr/>
                    <a:lstStyle/>
                    <a:p>
                      <a:pPr indent="0" marL="0">
                        <a:buNone/>
                      </a:pPr>
                      <a:r>
                        <a:rPr lang="en-US" sz="1300" b="1" dirty="0">
                          <a:solidFill>
                            <a:schemeClr val="bg1"/>
                          </a:solidFill>
                        </a:rPr>
                        <a:t>Criterio</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PyCaret</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scikit-learn (regresión logística)</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566928">
                <a:tc>
                  <a:txBody>
                    <a:bodyPr/>
                    <a:lstStyle/>
                    <a:p>
                      <a:pPr indent="0" marL="0">
                        <a:buNone/>
                      </a:pPr>
                      <a:r>
                        <a:rPr lang="en-US" sz="1300" b="1" dirty="0">
                          <a:solidFill>
                            <a:schemeClr val="tx1"/>
                          </a:solidFill>
                        </a:rPr>
                        <a:t>F1 en el test (IC 95 %)  ● medido</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0,6164 [0,579; 0,650]</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0,6136 [0,575; 0,647] base · 0,6130 con búsqueda</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tx1"/>
                          </a:solidFill>
                        </a:rPr>
                        <a:t>ROC-AUC en el test  ● medido</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0,8419 [0,819; 0,862]</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0,8416 base · 0,8417 con búsqueda</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tx1"/>
                          </a:solidFill>
                        </a:rPr>
                        <a:t>Tiempo de cómputo  ● medido</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218,0 s (14 modelos + ajuste)</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0,11 s un ajuste · 85,4 s con 800 ajustes</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indent="0" marL="0">
                        <a:buNone/>
                      </a:pPr>
                      <a:r>
                        <a:rPr lang="en-US" sz="1300" b="1" dirty="0">
                          <a:solidFill>
                            <a:schemeClr val="tx1"/>
                          </a:solidFill>
                        </a:rPr>
                        <a:t>Modelos evaluados</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14, de forma automática</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 elegido por nosotros</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indent="0" marL="0">
                        <a:buNone/>
                      </a:pPr>
                      <a:r>
                        <a:rPr lang="en-US" sz="1300" b="1" dirty="0">
                          <a:solidFill>
                            <a:schemeClr val="tx1"/>
                          </a:solidFill>
                        </a:rPr>
                        <a:t>Preprocesamiento</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Automático, con valores por defecto</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Definido por nosotros en un Pipeline</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indent="0" marL="0">
                        <a:buNone/>
                      </a:pPr>
                      <a:r>
                        <a:rPr lang="en-US" sz="1300" b="1" dirty="0">
                          <a:solidFill>
                            <a:schemeClr val="tx1"/>
                          </a:solidFill>
                        </a:rPr>
                        <a:t>Control y transparencia</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Menor: decisiones por defecto</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Total sobre cada paso</a:t>
                      </a:r>
                      <a:endParaRPr lang="en-US" sz="13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4" name="conclusión de la comparación"/>
          <p:cNvSpPr/>
          <p:nvPr/>
        </p:nvSpPr>
        <p:spPr>
          <a:xfrm>
            <a:off x="548640" y="5349240"/>
            <a:ext cx="11064240" cy="868680"/>
          </a:xfrm>
          <a:prstGeom prst="roundRect">
            <a:avLst>
              <a:gd name="adj" fmla="val 10526"/>
            </a:avLst>
          </a:prstGeom>
          <a:solidFill>
            <a:schemeClr val="tx2"/>
          </a:solidFill>
          <a:ln/>
        </p:spPr>
      </p:sp>
      <p:sp>
        <p:nvSpPr>
          <p:cNvPr id="5" name="texto conclusión de la comparación"/>
          <p:cNvSpPr txBox="1"/>
          <p:nvPr/>
        </p:nvSpPr>
        <p:spPr>
          <a:xfrm>
            <a:off x="777240" y="5349240"/>
            <a:ext cx="10607040" cy="868680"/>
          </a:xfrm>
          <a:prstGeom prst="rect">
            <a:avLst/>
          </a:prstGeom>
          <a:noFill/>
          <a:ln/>
        </p:spPr>
        <p:txBody>
          <a:bodyPr wrap="square" lIns="0" tIns="0" rIns="0" bIns="0" rtlCol="0" anchor="ctr"/>
          <a:lstStyle/>
          <a:p>
            <a:pPr indent="0" marL="0">
              <a:buNone/>
            </a:pPr>
            <a:r>
              <a:rPr lang="en-US" sz="1500" dirty="0">
                <a:solidFill>
                  <a:schemeClr val="bg1"/>
                </a:solidFill>
              </a:rPr>
              <a:t>Sin diferencia detectable en desempeño. PyCaret cuesta más tiempo (218 s frente a 0,11 s por ajuste), y a cambio compara 14 modelos sin escribir su código.</a:t>
            </a:r>
            <a:endParaRPr lang="en-US" sz="15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Comparación 2: PyCaret vs. otras herramientas AutoML</a:t>
            </a:r>
            <a:endParaRPr lang="en-US" sz="3000" dirty="0"/>
          </a:p>
        </p:txBody>
      </p:sp>
      <p:graphicFrame>
        <p:nvGraphicFramePr>
          <p:cNvPr id="16" name="tabla comparación AutoML"/>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737360"/>
                <a:gridCol w="2011680"/>
                <a:gridCol w="1828800"/>
                <a:gridCol w="1828800"/>
                <a:gridCol w="1828800"/>
                <a:gridCol w="1828800"/>
              </a:tblGrid>
              <a:tr h="411480">
                <a:tc>
                  <a:txBody>
                    <a:bodyPr/>
                    <a:lstStyle/>
                    <a:p>
                      <a:pPr indent="0" marL="0">
                        <a:buNone/>
                      </a:pPr>
                      <a:r>
                        <a:rPr lang="en-US" sz="1200" b="1" dirty="0">
                          <a:solidFill>
                            <a:schemeClr val="bg1"/>
                          </a:solidFill>
                        </a:rPr>
                        <a:t>Criterio</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PyCaret</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H2O AutoML</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AutoGluon</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TPOT</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auto-sklearn</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777240">
                <a:tc>
                  <a:txBody>
                    <a:bodyPr/>
                    <a:lstStyle/>
                    <a:p>
                      <a:pPr indent="0" marL="0">
                        <a:buNone/>
                      </a:pPr>
                      <a:r>
                        <a:rPr lang="en-US" sz="1200" b="1" dirty="0">
                          <a:solidFill>
                            <a:schemeClr val="tx1"/>
                          </a:solidFill>
                        </a:rPr>
                        <a:t>Facilidad de uso</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Low-code: setup() y compare_models()</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Datos, objetivo y criterio de parada; interfaz H2O Flow</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Pocas líneas; usa datos crudos</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Como un estimador de scikit-learn; datos ya limpios</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Como un estimador de scikit-learn; pensado para Linux</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777240">
                <a:tc>
                  <a:txBody>
                    <a:bodyPr/>
                    <a:lstStyle/>
                    <a:p>
                      <a:pPr indent="0" marL="0">
                        <a:buNone/>
                      </a:pPr>
                      <a:r>
                        <a:rPr lang="en-US" sz="1200" b="1" dirty="0">
                          <a:solidFill>
                            <a:schemeClr val="tx1"/>
                          </a:solidFill>
                        </a:rPr>
                        <a:t>Curva de aprendizaje</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Baja: pensada para principiantes</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Media: arquitectura cliente-servidor (JVM)</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Mínima en uso básico</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Pide nociones de programación genética</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Baja si ya dominas scikit-learn</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indent="0" marL="0">
                        <a:buNone/>
                      </a:pPr>
                      <a:r>
                        <a:rPr lang="en-US" sz="1200" b="1" dirty="0">
                          <a:solidFill>
                            <a:schemeClr val="tx1"/>
                          </a:solidFill>
                        </a:rPr>
                        <a:t>Costo y licencia</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Gratis · MIT (motor)</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Gratis · Apache 2.0 (H2O-3)</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Gratis · Apache 2.0</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Gratis · LGPL-3.0</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Gratis · BSD de 3 cláusulas</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777240">
                <a:tc>
                  <a:txBody>
                    <a:bodyPr/>
                    <a:lstStyle/>
                    <a:p>
                      <a:pPr indent="0" marL="0">
                        <a:buNone/>
                      </a:pPr>
                      <a:r>
                        <a:rPr lang="en-US" sz="1200" b="1" dirty="0">
                          <a:solidFill>
                            <a:schemeClr val="tx1"/>
                          </a:solidFill>
                        </a:rPr>
                        <a:t>Comunidad y documentación</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Documentación por módulo, notebooks y Docker</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Manuales en Python y R; GitHub</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Respaldo de AWS; tutoriales y foros</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Grupo académico; evoluciona a TPOT2</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AutoML.org; docs de la rama 0.15.x</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640080">
                <a:tc>
                  <a:txBody>
                    <a:bodyPr/>
                    <a:lstStyle/>
                    <a:p>
                      <a:pPr indent="0" marL="0">
                        <a:buNone/>
                      </a:pPr>
                      <a:r>
                        <a:rPr lang="en-US" sz="1200" b="1" dirty="0">
                          <a:solidFill>
                            <a:schemeClr val="tx1"/>
                          </a:solidFill>
                        </a:rPr>
                        <a:t>Integración con Python</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Nativa; pipelines de scikit-learn</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Cliente Python sobre una JVM</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Nativa; Python 3.10 a 3.13</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Exporta el pipeline como código Python</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Estimador de scikit-learn</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502920">
                <a:tc>
                  <a:txBody>
                    <a:bodyPr/>
                    <a:lstStyle/>
                    <a:p>
                      <a:pPr indent="0" marL="0">
                        <a:buNone/>
                      </a:pPr>
                      <a:r>
                        <a:rPr lang="en-US" sz="1200" b="1" dirty="0">
                          <a:solidFill>
                            <a:schemeClr val="accent2"/>
                          </a:solidFill>
                        </a:rPr>
                        <a:t>Medido en nuestro pipeline</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2"/>
                          </a:solidFill>
                        </a:rPr>
                        <a:t>F1 0,616 · AUC 0,842 · 218 s</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i="1" dirty="0">
                          <a:solidFill>
                            <a:schemeClr val="accent5"/>
                          </a:solidFill>
                        </a:rPr>
                        <a:t>No medido</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i="1" dirty="0">
                          <a:solidFill>
                            <a:schemeClr val="accent5"/>
                          </a:solidFill>
                        </a:rPr>
                        <a:t>No medido</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i="1" dirty="0">
                          <a:solidFill>
                            <a:schemeClr val="accent5"/>
                          </a:solidFill>
                        </a:rPr>
                        <a:t>No medido</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i="1" dirty="0">
                          <a:solidFill>
                            <a:schemeClr val="accent5"/>
                          </a:solidFill>
                        </a:rPr>
                        <a:t>No medido</a:t>
                      </a:r>
                      <a:endParaRPr lang="en-US" sz="1200" dirty="0"/>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bl>
          </a:graphicData>
        </a:graphic>
      </p:graphicFrame>
      <p:sp>
        <p:nvSpPr>
          <p:cNvPr id="4" name="fuente de la tabla"/>
          <p:cNvSpPr txBox="1"/>
          <p:nvPr/>
        </p:nvSpPr>
        <p:spPr>
          <a:xfrm>
            <a:off x="548640" y="5852160"/>
            <a:ext cx="11064240" cy="502920"/>
          </a:xfrm>
          <a:prstGeom prst="rect">
            <a:avLst/>
          </a:prstGeom>
          <a:noFill/>
          <a:ln/>
        </p:spPr>
        <p:txBody>
          <a:bodyPr wrap="square" lIns="0" tIns="0" rIns="0" bIns="0" rtlCol="0" anchor="t"/>
          <a:lstStyle/>
          <a:p>
            <a:pPr indent="0" marL="0">
              <a:buNone/>
            </a:pPr>
            <a:r>
              <a:rPr lang="en-US" sz="1200" dirty="0">
                <a:solidFill>
                  <a:schemeClr val="accent5"/>
                </a:solidFill>
              </a:rPr>
              <a:t>Fuente: documentación oficial y artículos de las referencias. Salvo la última fila, los datos no son mediciones propias; no ejecutamos las otras herramientas.</a:t>
            </a:r>
            <a:endParaRPr lang="en-US" sz="12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Ventajas, limitaciones y riesgos</a:t>
            </a:r>
            <a:endParaRPr lang="en-US" sz="3000" dirty="0"/>
          </a:p>
        </p:txBody>
      </p:sp>
      <p:sp>
        <p:nvSpPr>
          <p:cNvPr id="3" name="tarjeta Ventajas"/>
          <p:cNvSpPr/>
          <p:nvPr/>
        </p:nvSpPr>
        <p:spPr>
          <a:xfrm>
            <a:off x="548640" y="1371600"/>
            <a:ext cx="3566160" cy="4800600"/>
          </a:xfrm>
          <a:prstGeom prst="roundRect">
            <a:avLst>
              <a:gd name="adj" fmla="val 2564"/>
            </a:avLst>
          </a:prstGeom>
          <a:solidFill>
            <a:schemeClr val="bg2"/>
          </a:solidFill>
          <a:ln/>
        </p:spPr>
      </p:sp>
      <p:sp>
        <p:nvSpPr>
          <p:cNvPr id="4" name="icono Ventajas fondo"/>
          <p:cNvSpPr/>
          <p:nvPr/>
        </p:nvSpPr>
        <p:spPr>
          <a:xfrm>
            <a:off x="777240" y="1554480"/>
            <a:ext cx="594360" cy="594360"/>
          </a:xfrm>
          <a:prstGeom prst="ellipse">
            <a:avLst/>
          </a:prstGeom>
          <a:solidFill>
            <a:srgbClr val="2F8F83"/>
          </a:solidFill>
          <a:ln/>
        </p:spPr>
      </p:sp>
      <p:pic>
        <p:nvPicPr>
          <p:cNvPr id="5" name="icono Ventajas" descr="icono Ventajas">    </p:cNvPr>
          <p:cNvPicPr>
            <a:picLocks noChangeAspect="1"/>
          </p:cNvPicPr>
          <p:nvPr/>
        </p:nvPicPr>
        <p:blipFill>
          <a:blip r:embed="rId1"/>
          <a:stretch>
            <a:fillRect/>
          </a:stretch>
        </p:blipFill>
        <p:spPr>
          <a:xfrm>
            <a:off x="931774" y="1709014"/>
            <a:ext cx="285293" cy="285293"/>
          </a:xfrm>
          <a:prstGeom prst="rect">
            <a:avLst/>
          </a:prstGeom>
        </p:spPr>
      </p:pic>
      <p:sp>
        <p:nvSpPr>
          <p:cNvPr id="6" name="título Ventajas"/>
          <p:cNvSpPr txBox="1"/>
          <p:nvPr/>
        </p:nvSpPr>
        <p:spPr>
          <a:xfrm>
            <a:off x="1508760" y="1554480"/>
            <a:ext cx="2468880" cy="5943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Ventajas</a:t>
            </a:r>
            <a:endParaRPr lang="en-US" sz="2000" dirty="0"/>
          </a:p>
        </p:txBody>
      </p:sp>
      <p:sp>
        <p:nvSpPr>
          <p:cNvPr id="7" name="lista Ventajas"/>
          <p:cNvSpPr txBox="1"/>
          <p:nvPr/>
        </p:nvSpPr>
        <p:spPr>
          <a:xfrm>
            <a:off x="777240" y="2377440"/>
            <a:ext cx="3154680" cy="3657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Compara 14 modelos con una sola línea de código.</a:t>
            </a:r>
            <a:endParaRPr lang="en-US" sz="1600" dirty="0"/>
          </a:p>
          <a:p>
            <a:pPr marL="342900" indent="-342900">
              <a:spcAft>
                <a:spcPts val="800"/>
              </a:spcAft>
              <a:buSzPct val="100000"/>
              <a:buChar char="•"/>
            </a:pPr>
            <a:r>
              <a:rPr lang="en-US" sz="1600" dirty="0">
                <a:solidFill>
                  <a:schemeClr val="tx1"/>
                </a:solidFill>
              </a:rPr>
              <a:t>Experimento reproducible con session_id.</a:t>
            </a:r>
            <a:endParaRPr lang="en-US" sz="1600" dirty="0"/>
          </a:p>
          <a:p>
            <a:pPr marL="342900" indent="-342900">
              <a:spcAft>
                <a:spcPts val="800"/>
              </a:spcAft>
              <a:buSzPct val="100000"/>
              <a:buChar char="•"/>
            </a:pPr>
            <a:r>
              <a:rPr lang="en-US" sz="1600" dirty="0">
                <a:solidFill>
                  <a:schemeClr val="tx1"/>
                </a:solidFill>
              </a:rPr>
              <a:t>Métricas y gráficos automáticos (ROC, matriz de confusión).</a:t>
            </a:r>
            <a:endParaRPr lang="en-US" sz="1600" dirty="0"/>
          </a:p>
          <a:p>
            <a:pPr marL="342900" indent="-342900">
              <a:spcAft>
                <a:spcPts val="800"/>
              </a:spcAft>
              <a:buSzPct val="100000"/>
              <a:buChar char="•"/>
            </a:pPr>
            <a:r>
              <a:rPr lang="en-US" sz="1600" dirty="0">
                <a:solidFill>
                  <a:schemeClr val="tx1"/>
                </a:solidFill>
              </a:rPr>
              <a:t>Muy útil como línea base y prototipo.</a:t>
            </a:r>
            <a:endParaRPr lang="en-US" sz="1600" dirty="0"/>
          </a:p>
        </p:txBody>
      </p:sp>
      <p:sp>
        <p:nvSpPr>
          <p:cNvPr id="8" name="tarjeta Limitaciones"/>
          <p:cNvSpPr/>
          <p:nvPr/>
        </p:nvSpPr>
        <p:spPr>
          <a:xfrm>
            <a:off x="4297680" y="1371600"/>
            <a:ext cx="3566160" cy="4800600"/>
          </a:xfrm>
          <a:prstGeom prst="roundRect">
            <a:avLst>
              <a:gd name="adj" fmla="val 2564"/>
            </a:avLst>
          </a:prstGeom>
          <a:solidFill>
            <a:schemeClr val="bg2"/>
          </a:solidFill>
          <a:ln/>
        </p:spPr>
      </p:sp>
      <p:sp>
        <p:nvSpPr>
          <p:cNvPr id="9" name="icono Limitaciones fondo"/>
          <p:cNvSpPr/>
          <p:nvPr/>
        </p:nvSpPr>
        <p:spPr>
          <a:xfrm>
            <a:off x="4526280" y="1554480"/>
            <a:ext cx="594360" cy="594360"/>
          </a:xfrm>
          <a:prstGeom prst="ellipse">
            <a:avLst/>
          </a:prstGeom>
          <a:solidFill>
            <a:srgbClr val="D9A441"/>
          </a:solidFill>
          <a:ln/>
        </p:spPr>
      </p:sp>
      <p:pic>
        <p:nvPicPr>
          <p:cNvPr id="10" name="icono Limitaciones" descr="icono Limitaciones">    </p:cNvPr>
          <p:cNvPicPr>
            <a:picLocks noChangeAspect="1"/>
          </p:cNvPicPr>
          <p:nvPr/>
        </p:nvPicPr>
        <p:blipFill>
          <a:blip r:embed="rId2"/>
          <a:stretch>
            <a:fillRect/>
          </a:stretch>
        </p:blipFill>
        <p:spPr>
          <a:xfrm>
            <a:off x="4680814" y="1709014"/>
            <a:ext cx="285293" cy="285293"/>
          </a:xfrm>
          <a:prstGeom prst="rect">
            <a:avLst/>
          </a:prstGeom>
        </p:spPr>
      </p:pic>
      <p:sp>
        <p:nvSpPr>
          <p:cNvPr id="11" name="título Limitaciones"/>
          <p:cNvSpPr txBox="1"/>
          <p:nvPr/>
        </p:nvSpPr>
        <p:spPr>
          <a:xfrm>
            <a:off x="5257800" y="1554480"/>
            <a:ext cx="2468880" cy="5943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Limitaciones</a:t>
            </a:r>
            <a:endParaRPr lang="en-US" sz="2000" dirty="0"/>
          </a:p>
        </p:txBody>
      </p:sp>
      <p:sp>
        <p:nvSpPr>
          <p:cNvPr id="12" name="lista Limitaciones"/>
          <p:cNvSpPr txBox="1"/>
          <p:nvPr/>
        </p:nvSpPr>
        <p:spPr>
          <a:xfrm>
            <a:off x="4526280" y="2377440"/>
            <a:ext cx="3154680" cy="3657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La versión estable 3.3.2 exige Python 3.11 o menor: en Colab no instaló.</a:t>
            </a:r>
            <a:endParaRPr lang="en-US" sz="1600" dirty="0"/>
          </a:p>
          <a:p>
            <a:pPr marL="342900" indent="-342900">
              <a:spcAft>
                <a:spcPts val="800"/>
              </a:spcAft>
              <a:buSzPct val="100000"/>
              <a:buChar char="•"/>
            </a:pPr>
            <a:r>
              <a:rPr lang="en-US" sz="1600" dirty="0">
                <a:solidFill>
                  <a:schemeClr val="tx1"/>
                </a:solidFill>
              </a:rPr>
              <a:t>Más lento: 218 s frente a 0,11 s de un ajuste.</a:t>
            </a:r>
            <a:endParaRPr lang="en-US" sz="1600" dirty="0"/>
          </a:p>
          <a:p>
            <a:pPr marL="342900" indent="-342900">
              <a:spcAft>
                <a:spcPts val="800"/>
              </a:spcAft>
              <a:buSzPct val="100000"/>
              <a:buChar char="•"/>
            </a:pPr>
            <a:r>
              <a:rPr lang="en-US" sz="1600" dirty="0">
                <a:solidFill>
                  <a:schemeClr val="tx1"/>
                </a:solidFill>
              </a:rPr>
              <a:t>Valores por defecto fijos: no escala ni balancea clases.</a:t>
            </a:r>
            <a:endParaRPr lang="en-US" sz="1600" dirty="0"/>
          </a:p>
          <a:p>
            <a:pPr marL="342900" indent="-342900">
              <a:spcAft>
                <a:spcPts val="800"/>
              </a:spcAft>
              <a:buSzPct val="100000"/>
              <a:buChar char="•"/>
            </a:pPr>
            <a:r>
              <a:rPr lang="en-US" sz="1600" dirty="0">
                <a:solidFill>
                  <a:schemeClr val="tx1"/>
                </a:solidFill>
              </a:rPr>
              <a:t>La rama 4.0 rompe la compatibilidad con 3.x.</a:t>
            </a:r>
            <a:endParaRPr lang="en-US" sz="1600" dirty="0"/>
          </a:p>
        </p:txBody>
      </p:sp>
      <p:sp>
        <p:nvSpPr>
          <p:cNvPr id="13" name="tarjeta Riesgos"/>
          <p:cNvSpPr/>
          <p:nvPr/>
        </p:nvSpPr>
        <p:spPr>
          <a:xfrm>
            <a:off x="8046720" y="1371600"/>
            <a:ext cx="3566160" cy="4800600"/>
          </a:xfrm>
          <a:prstGeom prst="roundRect">
            <a:avLst>
              <a:gd name="adj" fmla="val 2564"/>
            </a:avLst>
          </a:prstGeom>
          <a:solidFill>
            <a:schemeClr val="bg2"/>
          </a:solidFill>
          <a:ln/>
        </p:spPr>
      </p:sp>
      <p:sp>
        <p:nvSpPr>
          <p:cNvPr id="14" name="icono Riesgos fondo"/>
          <p:cNvSpPr/>
          <p:nvPr/>
        </p:nvSpPr>
        <p:spPr>
          <a:xfrm>
            <a:off x="8275320" y="1554480"/>
            <a:ext cx="594360" cy="594360"/>
          </a:xfrm>
          <a:prstGeom prst="ellipse">
            <a:avLst/>
          </a:prstGeom>
          <a:solidFill>
            <a:srgbClr val="C44E52"/>
          </a:solidFill>
          <a:ln/>
        </p:spPr>
      </p:sp>
      <p:pic>
        <p:nvPicPr>
          <p:cNvPr id="15" name="icono Riesgos" descr="icono Riesgos">    </p:cNvPr>
          <p:cNvPicPr>
            <a:picLocks noChangeAspect="1"/>
          </p:cNvPicPr>
          <p:nvPr/>
        </p:nvPicPr>
        <p:blipFill>
          <a:blip r:embed="rId3"/>
          <a:stretch>
            <a:fillRect/>
          </a:stretch>
        </p:blipFill>
        <p:spPr>
          <a:xfrm>
            <a:off x="8429854" y="1709014"/>
            <a:ext cx="285293" cy="285293"/>
          </a:xfrm>
          <a:prstGeom prst="rect">
            <a:avLst/>
          </a:prstGeom>
        </p:spPr>
      </p:pic>
      <p:sp>
        <p:nvSpPr>
          <p:cNvPr id="16" name="título Riesgos"/>
          <p:cNvSpPr txBox="1"/>
          <p:nvPr/>
        </p:nvSpPr>
        <p:spPr>
          <a:xfrm>
            <a:off x="9006840" y="1554480"/>
            <a:ext cx="2468880" cy="5943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Riesgos</a:t>
            </a:r>
            <a:endParaRPr lang="en-US" sz="2000" dirty="0"/>
          </a:p>
        </p:txBody>
      </p:sp>
      <p:sp>
        <p:nvSpPr>
          <p:cNvPr id="17" name="lista Riesgos"/>
          <p:cNvSpPr txBox="1"/>
          <p:nvPr/>
        </p:nvSpPr>
        <p:spPr>
          <a:xfrm>
            <a:off x="8275320" y="2377440"/>
            <a:ext cx="3154680" cy="3657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Reproducibilidad: dos versiones de scikit-learn (1.4.2 y 1.6.1) entre entornos.</a:t>
            </a:r>
            <a:endParaRPr lang="en-US" sz="1600" dirty="0"/>
          </a:p>
          <a:p>
            <a:pPr marL="342900" indent="-342900">
              <a:spcAft>
                <a:spcPts val="800"/>
              </a:spcAft>
              <a:buSzPct val="100000"/>
              <a:buChar char="•"/>
            </a:pPr>
            <a:r>
              <a:rPr lang="en-US" sz="1600" dirty="0">
                <a:solidFill>
                  <a:schemeClr val="tx1"/>
                </a:solidFill>
              </a:rPr>
              <a:t>Caja negra: se puede entrenar sin entender las transformaciones.</a:t>
            </a:r>
            <a:endParaRPr lang="en-US" sz="1600" dirty="0"/>
          </a:p>
          <a:p>
            <a:pPr marL="342900" indent="-342900">
              <a:spcAft>
                <a:spcPts val="800"/>
              </a:spcAft>
              <a:buSzPct val="100000"/>
              <a:buChar char="•"/>
            </a:pPr>
            <a:r>
              <a:rPr lang="en-US" sz="1600" dirty="0">
                <a:solidFill>
                  <a:schemeClr val="tx1"/>
                </a:solidFill>
              </a:rPr>
              <a:t>Sesgo: la imputación por defecto puede distorsionar datos; no hallamos una función de equidad documentada.</a:t>
            </a:r>
            <a:endParaRPr lang="en-US" sz="1600" dirty="0"/>
          </a:p>
          <a:p>
            <a:pPr marL="342900" indent="-342900">
              <a:spcAft>
                <a:spcPts val="800"/>
              </a:spcAft>
              <a:buSzPct val="100000"/>
              <a:buChar char="•"/>
            </a:pPr>
            <a:r>
              <a:rPr lang="en-US" sz="1600" dirty="0">
                <a:solidFill>
                  <a:schemeClr val="tx1"/>
                </a:solidFill>
              </a:rPr>
              <a:t>Privacidad: usar solo datos públicos o anonimizados.</a:t>
            </a:r>
            <a:endParaRPr lang="en-US" sz="16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Caso real: PyCaret para predecir diabetes tipo 2</a:t>
            </a:r>
            <a:endParaRPr lang="en-US" sz="3000" dirty="0"/>
          </a:p>
        </p:txBody>
      </p:sp>
      <p:sp>
        <p:nvSpPr>
          <p:cNvPr id="3" name="descripción del caso"/>
          <p:cNvSpPr txBox="1"/>
          <p:nvPr/>
        </p:nvSpPr>
        <p:spPr>
          <a:xfrm>
            <a:off x="548640" y="1371600"/>
            <a:ext cx="5303520" cy="3017520"/>
          </a:xfrm>
          <a:prstGeom prst="rect">
            <a:avLst/>
          </a:prstGeom>
          <a:noFill/>
          <a:ln/>
        </p:spPr>
        <p:txBody>
          <a:bodyPr wrap="square" lIns="0" tIns="0" rIns="0" bIns="0" rtlCol="0" anchor="t"/>
          <a:lstStyle/>
          <a:p>
            <a:pPr indent="0" marL="0">
              <a:buNone/>
            </a:pPr>
            <a:r>
              <a:rPr lang="en-US" sz="1500" b="1" dirty="0">
                <a:solidFill>
                  <a:schemeClr val="tx2"/>
                </a:solidFill>
              </a:rPr>
              <a:t>Problema: </a:t>
            </a:r>
            <a:pPr indent="0" marL="0">
              <a:buNone/>
            </a:pPr>
            <a:r>
              <a:rPr lang="en-US" sz="1500" dirty="0">
                <a:solidFill>
                  <a:schemeClr val="tx1"/>
                </a:solidFill>
              </a:rPr>
              <a:t>predecir diabetes tipo 2 con datos de hábitos y características clínicas (sin pruebas genéticas), separando hombres y mujeres.</a:t>
            </a:r>
            <a:endParaRPr lang="en-US" sz="1500" dirty="0"/>
          </a:p>
          <a:p>
            <a:pPr indent="0" marL="0">
              <a:buNone/>
            </a:pPr>
            <a:r>
              <a:rPr lang="en-US" sz="800" dirty="0">
                <a:solidFill>
                  <a:schemeClr val="tx1"/>
                </a:solidFill>
              </a:rPr>
              <a:t> </a:t>
            </a:r>
            <a:endParaRPr lang="en-US" sz="1500" dirty="0"/>
          </a:p>
          <a:p>
            <a:pPr indent="0" marL="0">
              <a:buNone/>
            </a:pPr>
            <a:r>
              <a:rPr lang="en-US" sz="1500" b="1" dirty="0">
                <a:solidFill>
                  <a:schemeClr val="tx2"/>
                </a:solidFill>
              </a:rPr>
              <a:t>Qué hicieron: </a:t>
            </a:r>
            <a:pPr indent="0" marL="0">
              <a:buNone/>
            </a:pPr>
            <a:r>
              <a:rPr lang="en-US" sz="1500" dirty="0">
                <a:solidFill>
                  <a:schemeClr val="tx1"/>
                </a:solidFill>
              </a:rPr>
              <a:t>usaron PyCaret para comparar 16 algoritmos con validación cruzada de 10 pliegues en tres subconjuntos (hombres, mujeres y total), y analizaron la importancia de variables y los valores SHAP.</a:t>
            </a:r>
            <a:endParaRPr lang="en-US" sz="1500" dirty="0"/>
          </a:p>
        </p:txBody>
      </p:sp>
      <p:sp>
        <p:nvSpPr>
          <p:cNvPr id="4" name="conclusión de los autores"/>
          <p:cNvSpPr/>
          <p:nvPr/>
        </p:nvSpPr>
        <p:spPr>
          <a:xfrm>
            <a:off x="548640" y="4526280"/>
            <a:ext cx="5303520" cy="1600200"/>
          </a:xfrm>
          <a:prstGeom prst="roundRect">
            <a:avLst>
              <a:gd name="adj" fmla="val 5714"/>
            </a:avLst>
          </a:prstGeom>
          <a:solidFill>
            <a:schemeClr val="bg2"/>
          </a:solidFill>
          <a:ln/>
        </p:spPr>
      </p:sp>
      <p:sp>
        <p:nvSpPr>
          <p:cNvPr id="5" name="texto conclusión de los autores"/>
          <p:cNvSpPr txBox="1"/>
          <p:nvPr/>
        </p:nvSpPr>
        <p:spPr>
          <a:xfrm>
            <a:off x="777240" y="4617720"/>
            <a:ext cx="4846320" cy="1417320"/>
          </a:xfrm>
          <a:prstGeom prst="rect">
            <a:avLst/>
          </a:prstGeom>
          <a:noFill/>
          <a:ln/>
        </p:spPr>
        <p:txBody>
          <a:bodyPr wrap="square" lIns="0" tIns="0" rIns="0" bIns="0" rtlCol="0" anchor="ctr"/>
          <a:lstStyle/>
          <a:p>
            <a:pPr indent="0" marL="0">
              <a:buNone/>
            </a:pPr>
            <a:r>
              <a:rPr lang="en-US" sz="1400" b="1" dirty="0">
                <a:solidFill>
                  <a:schemeClr val="tx2"/>
                </a:solidFill>
              </a:rPr>
              <a:t>Conclusión de los autores: </a:t>
            </a:r>
            <a:pPr indent="0" marL="0">
              <a:buNone/>
            </a:pPr>
            <a:r>
              <a:rPr lang="en-US" sz="1400" dirty="0">
                <a:solidFill>
                  <a:schemeClr val="tx1"/>
                </a:solidFill>
              </a:rPr>
              <a:t>PyCaret simplificó el análisis, pero las variables fenotípicas por sí solas dan un poder predictivo moderado.</a:t>
            </a:r>
            <a:endParaRPr lang="en-US" sz="1400" dirty="0"/>
          </a:p>
        </p:txBody>
      </p:sp>
      <p:sp>
        <p:nvSpPr>
          <p:cNvPr id="6" name="cifra 16"/>
          <p:cNvSpPr/>
          <p:nvPr/>
        </p:nvSpPr>
        <p:spPr>
          <a:xfrm>
            <a:off x="6172200" y="1371600"/>
            <a:ext cx="2651760" cy="1645920"/>
          </a:xfrm>
          <a:prstGeom prst="roundRect">
            <a:avLst>
              <a:gd name="adj" fmla="val 5556"/>
            </a:avLst>
          </a:prstGeom>
          <a:solidFill>
            <a:schemeClr val="tx2"/>
          </a:solidFill>
          <a:ln/>
        </p:spPr>
      </p:sp>
      <p:sp>
        <p:nvSpPr>
          <p:cNvPr id="7" name="valor 16"/>
          <p:cNvSpPr txBox="1"/>
          <p:nvPr/>
        </p:nvSpPr>
        <p:spPr>
          <a:xfrm>
            <a:off x="6355080" y="1508760"/>
            <a:ext cx="2286000" cy="777240"/>
          </a:xfrm>
          <a:prstGeom prst="rect">
            <a:avLst/>
          </a:prstGeom>
          <a:noFill/>
          <a:ln/>
        </p:spPr>
        <p:txBody>
          <a:bodyPr wrap="square" lIns="0" tIns="0" rIns="0" bIns="0" rtlCol="0" anchor="ctr"/>
          <a:lstStyle/>
          <a:p>
            <a:pPr indent="0" marL="0">
              <a:buNone/>
            </a:pPr>
            <a:r>
              <a:rPr lang="en-US" sz="3800" b="1" dirty="0">
                <a:solidFill>
                  <a:schemeClr val="bg1"/>
                </a:solidFill>
                <a:latin typeface="Cambria" pitchFamily="34" charset="0"/>
                <a:ea typeface="Cambria" pitchFamily="34" charset="-122"/>
                <a:cs typeface="Cambria" pitchFamily="34" charset="-120"/>
              </a:rPr>
              <a:t>16</a:t>
            </a:r>
            <a:endParaRPr lang="en-US" sz="3800" dirty="0"/>
          </a:p>
        </p:txBody>
      </p:sp>
      <p:sp>
        <p:nvSpPr>
          <p:cNvPr id="8" name="etiqueta 16"/>
          <p:cNvSpPr txBox="1"/>
          <p:nvPr/>
        </p:nvSpPr>
        <p:spPr>
          <a:xfrm>
            <a:off x="6355080" y="2286000"/>
            <a:ext cx="2286000" cy="640080"/>
          </a:xfrm>
          <a:prstGeom prst="rect">
            <a:avLst/>
          </a:prstGeom>
          <a:noFill/>
          <a:ln/>
        </p:spPr>
        <p:txBody>
          <a:bodyPr wrap="square" lIns="0" tIns="0" rIns="0" bIns="0" rtlCol="0" anchor="t"/>
          <a:lstStyle/>
          <a:p>
            <a:pPr indent="0" marL="0">
              <a:buNone/>
            </a:pPr>
            <a:r>
              <a:rPr lang="en-US" sz="1300" dirty="0">
                <a:solidFill>
                  <a:schemeClr val="accent6"/>
                </a:solidFill>
              </a:rPr>
              <a:t>algoritmos comparados a la vez</a:t>
            </a:r>
            <a:endParaRPr lang="en-US" sz="1300" dirty="0"/>
          </a:p>
        </p:txBody>
      </p:sp>
      <p:sp>
        <p:nvSpPr>
          <p:cNvPr id="9" name="cifra 5.672"/>
          <p:cNvSpPr/>
          <p:nvPr/>
        </p:nvSpPr>
        <p:spPr>
          <a:xfrm>
            <a:off x="8961120" y="1371600"/>
            <a:ext cx="2651760" cy="1645920"/>
          </a:xfrm>
          <a:prstGeom prst="roundRect">
            <a:avLst>
              <a:gd name="adj" fmla="val 5556"/>
            </a:avLst>
          </a:prstGeom>
          <a:solidFill>
            <a:schemeClr val="tx2"/>
          </a:solidFill>
          <a:ln/>
        </p:spPr>
      </p:sp>
      <p:sp>
        <p:nvSpPr>
          <p:cNvPr id="10" name="valor 5.672"/>
          <p:cNvSpPr txBox="1"/>
          <p:nvPr/>
        </p:nvSpPr>
        <p:spPr>
          <a:xfrm>
            <a:off x="9144000" y="1508760"/>
            <a:ext cx="2286000" cy="777240"/>
          </a:xfrm>
          <a:prstGeom prst="rect">
            <a:avLst/>
          </a:prstGeom>
          <a:noFill/>
          <a:ln/>
        </p:spPr>
        <p:txBody>
          <a:bodyPr wrap="square" lIns="0" tIns="0" rIns="0" bIns="0" rtlCol="0" anchor="ctr"/>
          <a:lstStyle/>
          <a:p>
            <a:pPr indent="0" marL="0">
              <a:buNone/>
            </a:pPr>
            <a:r>
              <a:rPr lang="en-US" sz="3800" b="1" dirty="0">
                <a:solidFill>
                  <a:schemeClr val="bg1"/>
                </a:solidFill>
                <a:latin typeface="Cambria" pitchFamily="34" charset="0"/>
                <a:ea typeface="Cambria" pitchFamily="34" charset="-122"/>
                <a:cs typeface="Cambria" pitchFamily="34" charset="-120"/>
              </a:rPr>
              <a:t>5.672</a:t>
            </a:r>
            <a:endParaRPr lang="en-US" sz="3800" dirty="0"/>
          </a:p>
        </p:txBody>
      </p:sp>
      <p:sp>
        <p:nvSpPr>
          <p:cNvPr id="11" name="etiqueta 5.672"/>
          <p:cNvSpPr txBox="1"/>
          <p:nvPr/>
        </p:nvSpPr>
        <p:spPr>
          <a:xfrm>
            <a:off x="9144000" y="2286000"/>
            <a:ext cx="2286000" cy="640080"/>
          </a:xfrm>
          <a:prstGeom prst="rect">
            <a:avLst/>
          </a:prstGeom>
          <a:noFill/>
          <a:ln/>
        </p:spPr>
        <p:txBody>
          <a:bodyPr wrap="square" lIns="0" tIns="0" rIns="0" bIns="0" rtlCol="0" anchor="t"/>
          <a:lstStyle/>
          <a:p>
            <a:pPr indent="0" marL="0">
              <a:buNone/>
            </a:pPr>
            <a:r>
              <a:rPr lang="en-US" sz="1300" dirty="0">
                <a:solidFill>
                  <a:schemeClr val="accent6"/>
                </a:solidFill>
              </a:rPr>
              <a:t>personas (cohortes NHS y HPFS)</a:t>
            </a:r>
            <a:endParaRPr lang="en-US" sz="1300" dirty="0"/>
          </a:p>
        </p:txBody>
      </p:sp>
      <p:sp>
        <p:nvSpPr>
          <p:cNvPr id="12" name="cifra 0,79"/>
          <p:cNvSpPr/>
          <p:nvPr/>
        </p:nvSpPr>
        <p:spPr>
          <a:xfrm>
            <a:off x="6172200" y="3154680"/>
            <a:ext cx="2651760" cy="1645920"/>
          </a:xfrm>
          <a:prstGeom prst="roundRect">
            <a:avLst>
              <a:gd name="adj" fmla="val 5556"/>
            </a:avLst>
          </a:prstGeom>
          <a:solidFill>
            <a:schemeClr val="tx2"/>
          </a:solidFill>
          <a:ln/>
        </p:spPr>
      </p:sp>
      <p:sp>
        <p:nvSpPr>
          <p:cNvPr id="13" name="valor 0,79"/>
          <p:cNvSpPr txBox="1"/>
          <p:nvPr/>
        </p:nvSpPr>
        <p:spPr>
          <a:xfrm>
            <a:off x="6355080" y="3291840"/>
            <a:ext cx="2286000" cy="777240"/>
          </a:xfrm>
          <a:prstGeom prst="rect">
            <a:avLst/>
          </a:prstGeom>
          <a:noFill/>
          <a:ln/>
        </p:spPr>
        <p:txBody>
          <a:bodyPr wrap="square" lIns="0" tIns="0" rIns="0" bIns="0" rtlCol="0" anchor="ctr"/>
          <a:lstStyle/>
          <a:p>
            <a:pPr indent="0" marL="0">
              <a:buNone/>
            </a:pPr>
            <a:r>
              <a:rPr lang="en-US" sz="3800" b="1" dirty="0">
                <a:solidFill>
                  <a:schemeClr val="bg1"/>
                </a:solidFill>
                <a:latin typeface="Cambria" pitchFamily="34" charset="0"/>
                <a:ea typeface="Cambria" pitchFamily="34" charset="-122"/>
                <a:cs typeface="Cambria" pitchFamily="34" charset="-120"/>
              </a:rPr>
              <a:t>0,79</a:t>
            </a:r>
            <a:endParaRPr lang="en-US" sz="3800" dirty="0"/>
          </a:p>
        </p:txBody>
      </p:sp>
      <p:sp>
        <p:nvSpPr>
          <p:cNvPr id="14" name="etiqueta 0,79"/>
          <p:cNvSpPr txBox="1"/>
          <p:nvPr/>
        </p:nvSpPr>
        <p:spPr>
          <a:xfrm>
            <a:off x="6355080" y="4069080"/>
            <a:ext cx="2286000" cy="640080"/>
          </a:xfrm>
          <a:prstGeom prst="rect">
            <a:avLst/>
          </a:prstGeom>
          <a:noFill/>
          <a:ln/>
        </p:spPr>
        <p:txBody>
          <a:bodyPr wrap="square" lIns="0" tIns="0" rIns="0" bIns="0" rtlCol="0" anchor="t"/>
          <a:lstStyle/>
          <a:p>
            <a:pPr indent="0" marL="0">
              <a:buNone/>
            </a:pPr>
            <a:r>
              <a:rPr lang="en-US" sz="1300" dirty="0">
                <a:solidFill>
                  <a:schemeClr val="accent6"/>
                </a:solidFill>
              </a:rPr>
              <a:t>AUC de la regresión logística en los datos totales</a:t>
            </a:r>
            <a:endParaRPr lang="en-US" sz="1300" dirty="0"/>
          </a:p>
        </p:txBody>
      </p:sp>
      <p:sp>
        <p:nvSpPr>
          <p:cNvPr id="15" name="cifra 0,716"/>
          <p:cNvSpPr/>
          <p:nvPr/>
        </p:nvSpPr>
        <p:spPr>
          <a:xfrm>
            <a:off x="8961120" y="3154680"/>
            <a:ext cx="2651760" cy="1645920"/>
          </a:xfrm>
          <a:prstGeom prst="roundRect">
            <a:avLst>
              <a:gd name="adj" fmla="val 5556"/>
            </a:avLst>
          </a:prstGeom>
          <a:solidFill>
            <a:schemeClr val="tx2"/>
          </a:solidFill>
          <a:ln/>
        </p:spPr>
      </p:sp>
      <p:sp>
        <p:nvSpPr>
          <p:cNvPr id="16" name="valor 0,716"/>
          <p:cNvSpPr txBox="1"/>
          <p:nvPr/>
        </p:nvSpPr>
        <p:spPr>
          <a:xfrm>
            <a:off x="9144000" y="3291840"/>
            <a:ext cx="2286000" cy="777240"/>
          </a:xfrm>
          <a:prstGeom prst="rect">
            <a:avLst/>
          </a:prstGeom>
          <a:noFill/>
          <a:ln/>
        </p:spPr>
        <p:txBody>
          <a:bodyPr wrap="square" lIns="0" tIns="0" rIns="0" bIns="0" rtlCol="0" anchor="ctr"/>
          <a:lstStyle/>
          <a:p>
            <a:pPr indent="0" marL="0">
              <a:buNone/>
            </a:pPr>
            <a:r>
              <a:rPr lang="en-US" sz="3800" b="1" dirty="0">
                <a:solidFill>
                  <a:schemeClr val="bg1"/>
                </a:solidFill>
                <a:latin typeface="Cambria" pitchFamily="34" charset="0"/>
                <a:ea typeface="Cambria" pitchFamily="34" charset="-122"/>
                <a:cs typeface="Cambria" pitchFamily="34" charset="-120"/>
              </a:rPr>
              <a:t>0,716</a:t>
            </a:r>
            <a:endParaRPr lang="en-US" sz="3800" dirty="0"/>
          </a:p>
        </p:txBody>
      </p:sp>
      <p:sp>
        <p:nvSpPr>
          <p:cNvPr id="17" name="etiqueta 0,716"/>
          <p:cNvSpPr txBox="1"/>
          <p:nvPr/>
        </p:nvSpPr>
        <p:spPr>
          <a:xfrm>
            <a:off x="9144000" y="4069080"/>
            <a:ext cx="2286000" cy="640080"/>
          </a:xfrm>
          <a:prstGeom prst="rect">
            <a:avLst/>
          </a:prstGeom>
          <a:noFill/>
          <a:ln/>
        </p:spPr>
        <p:txBody>
          <a:bodyPr wrap="square" lIns="0" tIns="0" rIns="0" bIns="0" rtlCol="0" anchor="t"/>
          <a:lstStyle/>
          <a:p>
            <a:pPr indent="0" marL="0">
              <a:buNone/>
            </a:pPr>
            <a:r>
              <a:rPr lang="en-US" sz="1300" dirty="0">
                <a:solidFill>
                  <a:schemeClr val="accent6"/>
                </a:solidFill>
              </a:rPr>
              <a:t>F1 de esa regresión logística</a:t>
            </a:r>
            <a:endParaRPr lang="en-US" sz="1300" dirty="0"/>
          </a:p>
        </p:txBody>
      </p:sp>
      <p:sp>
        <p:nvSpPr>
          <p:cNvPr id="18" name="paralelo con nuestro trabajo"/>
          <p:cNvSpPr/>
          <p:nvPr/>
        </p:nvSpPr>
        <p:spPr>
          <a:xfrm>
            <a:off x="6172200" y="4937760"/>
            <a:ext cx="5440680" cy="1188720"/>
          </a:xfrm>
          <a:prstGeom prst="roundRect">
            <a:avLst>
              <a:gd name="adj" fmla="val 7692"/>
            </a:avLst>
          </a:prstGeom>
          <a:solidFill>
            <a:schemeClr val="bg2"/>
          </a:solidFill>
          <a:ln/>
        </p:spPr>
      </p:sp>
      <p:sp>
        <p:nvSpPr>
          <p:cNvPr id="19" name="texto paralelo"/>
          <p:cNvSpPr txBox="1"/>
          <p:nvPr/>
        </p:nvSpPr>
        <p:spPr>
          <a:xfrm>
            <a:off x="6355080" y="4983480"/>
            <a:ext cx="5074920" cy="1097280"/>
          </a:xfrm>
          <a:prstGeom prst="rect">
            <a:avLst/>
          </a:prstGeom>
          <a:noFill/>
          <a:ln/>
        </p:spPr>
        <p:txBody>
          <a:bodyPr wrap="square" lIns="0" tIns="0" rIns="0" bIns="0" rtlCol="0" anchor="ctr"/>
          <a:lstStyle/>
          <a:p>
            <a:pPr indent="0" marL="0">
              <a:buNone/>
            </a:pPr>
            <a:r>
              <a:rPr lang="en-US" sz="1400" b="1" dirty="0">
                <a:solidFill>
                  <a:schemeClr val="accent2"/>
                </a:solidFill>
              </a:rPr>
              <a:t>Igual que en nuestro Telco Churn, </a:t>
            </a:r>
            <a:pPr indent="0" marL="0">
              <a:buNone/>
            </a:pPr>
            <a:r>
              <a:rPr lang="en-US" sz="1400" dirty="0">
                <a:solidFill>
                  <a:schemeClr val="tx1"/>
                </a:solidFill>
              </a:rPr>
              <a:t>un modelo lineal (regresión logística) lideró la comparación.</a:t>
            </a:r>
            <a:endParaRPr lang="en-US" sz="1400" dirty="0"/>
          </a:p>
        </p:txBody>
      </p:sp>
      <p:sp>
        <p:nvSpPr>
          <p:cNvPr id="20" name="fuente del caso"/>
          <p:cNvSpPr txBox="1"/>
          <p:nvPr/>
        </p:nvSpPr>
        <p:spPr>
          <a:xfrm>
            <a:off x="548640" y="6199632"/>
            <a:ext cx="11064240" cy="274320"/>
          </a:xfrm>
          <a:prstGeom prst="rect">
            <a:avLst/>
          </a:prstGeom>
          <a:noFill/>
          <a:ln/>
        </p:spPr>
        <p:txBody>
          <a:bodyPr wrap="square" lIns="0" tIns="0" rIns="0" bIns="0" rtlCol="0" anchor="t"/>
          <a:lstStyle/>
          <a:p>
            <a:pPr indent="0" marL="0">
              <a:buNone/>
            </a:pPr>
            <a:r>
              <a:rPr lang="en-US" sz="1000" dirty="0">
                <a:solidFill>
                  <a:schemeClr val="accent5"/>
                </a:solidFill>
              </a:rPr>
              <a:t>Fuente: Gul, Ayturan y Hardalaç (2024), Journal of Personalized Medicine, 14(8), 804. https://doi.org/10.3390/jpm14080804. Cifras de la Tabla 6 del artículo; usaron PyCaret 3.2.0.</a:t>
            </a:r>
            <a:endParaRPr lang="en-US" sz="10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bg1"/>
                </a:solidFill>
              </a:rPr>
              <a:t>Conclusiones</a:t>
            </a:r>
            <a:endParaRPr lang="en-US" sz="3000" dirty="0"/>
          </a:p>
        </p:txBody>
      </p:sp>
      <p:sp>
        <p:nvSpPr>
          <p:cNvPr id="3" name="tarjeta conclusión 1"/>
          <p:cNvSpPr/>
          <p:nvPr/>
        </p:nvSpPr>
        <p:spPr>
          <a:xfrm>
            <a:off x="548640" y="1371600"/>
            <a:ext cx="5440680" cy="2148840"/>
          </a:xfrm>
          <a:prstGeom prst="roundRect">
            <a:avLst>
              <a:gd name="adj" fmla="val 4255"/>
            </a:avLst>
          </a:prstGeom>
          <a:solidFill>
            <a:schemeClr val="accent5"/>
          </a:solidFill>
          <a:ln/>
        </p:spPr>
      </p:sp>
      <p:sp>
        <p:nvSpPr>
          <p:cNvPr id="4" name="número 1"/>
          <p:cNvSpPr txBox="1"/>
          <p:nvPr/>
        </p:nvSpPr>
        <p:spPr>
          <a:xfrm>
            <a:off x="777240" y="1554480"/>
            <a:ext cx="731520" cy="914400"/>
          </a:xfrm>
          <a:prstGeom prst="rect">
            <a:avLst/>
          </a:prstGeom>
          <a:noFill/>
          <a:ln/>
        </p:spPr>
        <p:txBody>
          <a:bodyPr wrap="square" lIns="0" tIns="0" rIns="0" bIns="0" rtlCol="0" anchor="t"/>
          <a:lstStyle/>
          <a:p>
            <a:pPr indent="0" marL="0">
              <a:buNone/>
            </a:pPr>
            <a:r>
              <a:rPr lang="en-US" sz="4800" b="1" dirty="0">
                <a:solidFill>
                  <a:schemeClr val="accent6"/>
                </a:solidFill>
                <a:latin typeface="Cambria" pitchFamily="34" charset="0"/>
                <a:ea typeface="Cambria" pitchFamily="34" charset="-122"/>
                <a:cs typeface="Cambria" pitchFamily="34" charset="-120"/>
              </a:rPr>
              <a:t>1</a:t>
            </a:r>
            <a:endParaRPr lang="en-US" sz="4800" dirty="0"/>
          </a:p>
        </p:txBody>
      </p:sp>
      <p:sp>
        <p:nvSpPr>
          <p:cNvPr id="5" name="título conclusión 1"/>
          <p:cNvSpPr txBox="1"/>
          <p:nvPr/>
        </p:nvSpPr>
        <p:spPr>
          <a:xfrm>
            <a:off x="1600200" y="1645920"/>
            <a:ext cx="4206240" cy="457200"/>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Sin diferencia demostrable</a:t>
            </a:r>
            <a:endParaRPr lang="en-US" sz="1900" dirty="0"/>
          </a:p>
        </p:txBody>
      </p:sp>
      <p:sp>
        <p:nvSpPr>
          <p:cNvPr id="6" name="texto conclusión 1"/>
          <p:cNvSpPr txBox="1"/>
          <p:nvPr/>
        </p:nvSpPr>
        <p:spPr>
          <a:xfrm>
            <a:off x="1600200" y="2194560"/>
            <a:ext cx="4206240" cy="1188720"/>
          </a:xfrm>
          <a:prstGeom prst="rect">
            <a:avLst/>
          </a:prstGeom>
          <a:noFill/>
          <a:ln/>
        </p:spPr>
        <p:txBody>
          <a:bodyPr wrap="square" lIns="0" tIns="0" rIns="0" bIns="0" rtlCol="0" anchor="t"/>
          <a:lstStyle/>
          <a:p>
            <a:pPr indent="0" marL="0">
              <a:buNone/>
            </a:pPr>
            <a:r>
              <a:rPr lang="en-US" sz="1500" dirty="0">
                <a:solidFill>
                  <a:schemeClr val="bg1"/>
                </a:solidFill>
              </a:rPr>
              <a:t>F1 de 0,616 (PyCaret) y 0,614 (regresión): los IC de la diferencia incluyen el 0.</a:t>
            </a:r>
            <a:endParaRPr lang="en-US" sz="1500" dirty="0"/>
          </a:p>
        </p:txBody>
      </p:sp>
      <p:sp>
        <p:nvSpPr>
          <p:cNvPr id="7" name="tarjeta conclusión 2"/>
          <p:cNvSpPr/>
          <p:nvPr/>
        </p:nvSpPr>
        <p:spPr>
          <a:xfrm>
            <a:off x="6199632" y="1371600"/>
            <a:ext cx="5440680" cy="2148840"/>
          </a:xfrm>
          <a:prstGeom prst="roundRect">
            <a:avLst>
              <a:gd name="adj" fmla="val 4255"/>
            </a:avLst>
          </a:prstGeom>
          <a:solidFill>
            <a:schemeClr val="accent5"/>
          </a:solidFill>
          <a:ln/>
        </p:spPr>
      </p:sp>
      <p:sp>
        <p:nvSpPr>
          <p:cNvPr id="8" name="número 2"/>
          <p:cNvSpPr txBox="1"/>
          <p:nvPr/>
        </p:nvSpPr>
        <p:spPr>
          <a:xfrm>
            <a:off x="6428232" y="1554480"/>
            <a:ext cx="731520" cy="914400"/>
          </a:xfrm>
          <a:prstGeom prst="rect">
            <a:avLst/>
          </a:prstGeom>
          <a:noFill/>
          <a:ln/>
        </p:spPr>
        <p:txBody>
          <a:bodyPr wrap="square" lIns="0" tIns="0" rIns="0" bIns="0" rtlCol="0" anchor="t"/>
          <a:lstStyle/>
          <a:p>
            <a:pPr indent="0" marL="0">
              <a:buNone/>
            </a:pPr>
            <a:r>
              <a:rPr lang="en-US" sz="4800" b="1" dirty="0">
                <a:solidFill>
                  <a:schemeClr val="accent6"/>
                </a:solidFill>
                <a:latin typeface="Cambria" pitchFamily="34" charset="0"/>
                <a:ea typeface="Cambria" pitchFamily="34" charset="-122"/>
                <a:cs typeface="Cambria" pitchFamily="34" charset="-120"/>
              </a:rPr>
              <a:t>2</a:t>
            </a:r>
            <a:endParaRPr lang="en-US" sz="4800" dirty="0"/>
          </a:p>
        </p:txBody>
      </p:sp>
      <p:sp>
        <p:nvSpPr>
          <p:cNvPr id="9" name="título conclusión 2"/>
          <p:cNvSpPr txBox="1"/>
          <p:nvPr/>
        </p:nvSpPr>
        <p:spPr>
          <a:xfrm>
            <a:off x="7251192" y="1645920"/>
            <a:ext cx="4206240" cy="457200"/>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Un modelo lineal bastó</a:t>
            </a:r>
            <a:endParaRPr lang="en-US" sz="1900" dirty="0"/>
          </a:p>
        </p:txBody>
      </p:sp>
      <p:sp>
        <p:nvSpPr>
          <p:cNvPr id="10" name="texto conclusión 2"/>
          <p:cNvSpPr txBox="1"/>
          <p:nvPr/>
        </p:nvSpPr>
        <p:spPr>
          <a:xfrm>
            <a:off x="7251192" y="2194560"/>
            <a:ext cx="4206240" cy="1188720"/>
          </a:xfrm>
          <a:prstGeom prst="rect">
            <a:avLst/>
          </a:prstGeom>
          <a:noFill/>
          <a:ln/>
        </p:spPr>
        <p:txBody>
          <a:bodyPr wrap="square" lIns="0" tIns="0" rIns="0" bIns="0" rtlCol="0" anchor="t"/>
          <a:lstStyle/>
          <a:p>
            <a:pPr indent="0" marL="0">
              <a:buNone/>
            </a:pPr>
            <a:r>
              <a:rPr lang="en-US" sz="1500" dirty="0">
                <a:solidFill>
                  <a:schemeClr val="bg1"/>
                </a:solidFill>
              </a:rPr>
              <a:t>PyCaret probó 14 modelos y eligió una regresión logística, igual que en el caso de diabetes.</a:t>
            </a:r>
            <a:endParaRPr lang="en-US" sz="1500" dirty="0"/>
          </a:p>
        </p:txBody>
      </p:sp>
      <p:sp>
        <p:nvSpPr>
          <p:cNvPr id="11" name="tarjeta conclusión 3"/>
          <p:cNvSpPr/>
          <p:nvPr/>
        </p:nvSpPr>
        <p:spPr>
          <a:xfrm>
            <a:off x="548640" y="3703320"/>
            <a:ext cx="5440680" cy="2148840"/>
          </a:xfrm>
          <a:prstGeom prst="roundRect">
            <a:avLst>
              <a:gd name="adj" fmla="val 4255"/>
            </a:avLst>
          </a:prstGeom>
          <a:solidFill>
            <a:schemeClr val="accent5"/>
          </a:solidFill>
          <a:ln/>
        </p:spPr>
      </p:sp>
      <p:sp>
        <p:nvSpPr>
          <p:cNvPr id="12" name="número 3"/>
          <p:cNvSpPr txBox="1"/>
          <p:nvPr/>
        </p:nvSpPr>
        <p:spPr>
          <a:xfrm>
            <a:off x="777240" y="3886200"/>
            <a:ext cx="731520" cy="914400"/>
          </a:xfrm>
          <a:prstGeom prst="rect">
            <a:avLst/>
          </a:prstGeom>
          <a:noFill/>
          <a:ln/>
        </p:spPr>
        <p:txBody>
          <a:bodyPr wrap="square" lIns="0" tIns="0" rIns="0" bIns="0" rtlCol="0" anchor="t"/>
          <a:lstStyle/>
          <a:p>
            <a:pPr indent="0" marL="0">
              <a:buNone/>
            </a:pPr>
            <a:r>
              <a:rPr lang="en-US" sz="4800" b="1" dirty="0">
                <a:solidFill>
                  <a:schemeClr val="accent6"/>
                </a:solidFill>
                <a:latin typeface="Cambria" pitchFamily="34" charset="0"/>
                <a:ea typeface="Cambria" pitchFamily="34" charset="-122"/>
                <a:cs typeface="Cambria" pitchFamily="34" charset="-120"/>
              </a:rPr>
              <a:t>3</a:t>
            </a:r>
            <a:endParaRPr lang="en-US" sz="4800" dirty="0"/>
          </a:p>
        </p:txBody>
      </p:sp>
      <p:sp>
        <p:nvSpPr>
          <p:cNvPr id="13" name="título conclusión 3"/>
          <p:cNvSpPr txBox="1"/>
          <p:nvPr/>
        </p:nvSpPr>
        <p:spPr>
          <a:xfrm>
            <a:off x="1600200" y="3977640"/>
            <a:ext cx="4206240" cy="457200"/>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El costo es tiempo</a:t>
            </a:r>
            <a:endParaRPr lang="en-US" sz="1900" dirty="0"/>
          </a:p>
        </p:txBody>
      </p:sp>
      <p:sp>
        <p:nvSpPr>
          <p:cNvPr id="14" name="texto conclusión 3"/>
          <p:cNvSpPr txBox="1"/>
          <p:nvPr/>
        </p:nvSpPr>
        <p:spPr>
          <a:xfrm>
            <a:off x="1600200" y="4526280"/>
            <a:ext cx="4206240" cy="1188720"/>
          </a:xfrm>
          <a:prstGeom prst="rect">
            <a:avLst/>
          </a:prstGeom>
          <a:noFill/>
          <a:ln/>
        </p:spPr>
        <p:txBody>
          <a:bodyPr wrap="square" lIns="0" tIns="0" rIns="0" bIns="0" rtlCol="0" anchor="t"/>
          <a:lstStyle/>
          <a:p>
            <a:pPr indent="0" marL="0">
              <a:buNone/>
            </a:pPr>
            <a:r>
              <a:rPr lang="en-US" sz="1500" dirty="0">
                <a:solidFill>
                  <a:schemeClr val="bg1"/>
                </a:solidFill>
              </a:rPr>
              <a:t>218 s frente a 0,11 s por ajuste; a cambio, compara muchos modelos sin escribir su código.</a:t>
            </a:r>
            <a:endParaRPr lang="en-US" sz="1500" dirty="0"/>
          </a:p>
        </p:txBody>
      </p:sp>
      <p:sp>
        <p:nvSpPr>
          <p:cNvPr id="15" name="tarjeta conclusión 4"/>
          <p:cNvSpPr/>
          <p:nvPr/>
        </p:nvSpPr>
        <p:spPr>
          <a:xfrm>
            <a:off x="6199632" y="3703320"/>
            <a:ext cx="5440680" cy="2148840"/>
          </a:xfrm>
          <a:prstGeom prst="roundRect">
            <a:avLst>
              <a:gd name="adj" fmla="val 4255"/>
            </a:avLst>
          </a:prstGeom>
          <a:solidFill>
            <a:schemeClr val="accent5"/>
          </a:solidFill>
          <a:ln/>
        </p:spPr>
      </p:sp>
      <p:sp>
        <p:nvSpPr>
          <p:cNvPr id="16" name="número 4"/>
          <p:cNvSpPr txBox="1"/>
          <p:nvPr/>
        </p:nvSpPr>
        <p:spPr>
          <a:xfrm>
            <a:off x="6428232" y="3886200"/>
            <a:ext cx="731520" cy="914400"/>
          </a:xfrm>
          <a:prstGeom prst="rect">
            <a:avLst/>
          </a:prstGeom>
          <a:noFill/>
          <a:ln/>
        </p:spPr>
        <p:txBody>
          <a:bodyPr wrap="square" lIns="0" tIns="0" rIns="0" bIns="0" rtlCol="0" anchor="t"/>
          <a:lstStyle/>
          <a:p>
            <a:pPr indent="0" marL="0">
              <a:buNone/>
            </a:pPr>
            <a:r>
              <a:rPr lang="en-US" sz="4800" b="1" dirty="0">
                <a:solidFill>
                  <a:schemeClr val="accent6"/>
                </a:solidFill>
                <a:latin typeface="Cambria" pitchFamily="34" charset="0"/>
                <a:ea typeface="Cambria" pitchFamily="34" charset="-122"/>
                <a:cs typeface="Cambria" pitchFamily="34" charset="-120"/>
              </a:rPr>
              <a:t>4</a:t>
            </a:r>
            <a:endParaRPr lang="en-US" sz="4800" dirty="0"/>
          </a:p>
        </p:txBody>
      </p:sp>
      <p:sp>
        <p:nvSpPr>
          <p:cNvPr id="17" name="título conclusión 4"/>
          <p:cNvSpPr txBox="1"/>
          <p:nvPr/>
        </p:nvSpPr>
        <p:spPr>
          <a:xfrm>
            <a:off x="7251192" y="3977640"/>
            <a:ext cx="4206240" cy="457200"/>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Qué predice el abandono</a:t>
            </a:r>
            <a:endParaRPr lang="en-US" sz="1900" dirty="0"/>
          </a:p>
        </p:txBody>
      </p:sp>
      <p:sp>
        <p:nvSpPr>
          <p:cNvPr id="18" name="texto conclusión 4"/>
          <p:cNvSpPr txBox="1"/>
          <p:nvPr/>
        </p:nvSpPr>
        <p:spPr>
          <a:xfrm>
            <a:off x="7251192" y="4526280"/>
            <a:ext cx="4206240" cy="1188720"/>
          </a:xfrm>
          <a:prstGeom prst="rect">
            <a:avLst/>
          </a:prstGeom>
          <a:noFill/>
          <a:ln/>
        </p:spPr>
        <p:txBody>
          <a:bodyPr wrap="square" lIns="0" tIns="0" rIns="0" bIns="0" rtlCol="0" anchor="t"/>
          <a:lstStyle/>
          <a:p>
            <a:pPr indent="0" marL="0">
              <a:buNone/>
            </a:pPr>
            <a:r>
              <a:rPr lang="en-US" sz="1500" dirty="0">
                <a:solidFill>
                  <a:schemeClr val="bg1"/>
                </a:solidFill>
              </a:rPr>
              <a:t>Contrato mes a mes y fibra óptica se asocian con más churn (asociación, no causalidad).</a:t>
            </a:r>
            <a:endParaRPr lang="en-US" sz="1500" dirty="0"/>
          </a:p>
        </p:txBody>
      </p:sp>
      <p:sp>
        <p:nvSpPr>
          <p:cNvPr id="19" name="recomendación"/>
          <p:cNvSpPr txBox="1"/>
          <p:nvPr/>
        </p:nvSpPr>
        <p:spPr>
          <a:xfrm>
            <a:off x="548640" y="598932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Recomendación: usar PyCaret como línea base y prototipo, y validar después con rigor (intervalos de confianza, más de un split).</a:t>
            </a:r>
            <a:endParaRPr lang="en-US" sz="14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Referencias</a:t>
            </a:r>
            <a:endParaRPr lang="en-US" sz="3000" dirty="0"/>
          </a:p>
        </p:txBody>
      </p:sp>
      <p:sp>
        <p:nvSpPr>
          <p:cNvPr id="3" name="lista de referencias"/>
          <p:cNvSpPr txBox="1"/>
          <p:nvPr/>
        </p:nvSpPr>
        <p:spPr>
          <a:xfrm>
            <a:off x="548640" y="1280160"/>
            <a:ext cx="11064240" cy="502920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Ali, M., y colaboradores. (2024). pycaret: An open source, low-code machine learning library in Python (Versión 3.3.2) [Software]. Python Package Index. https://pypi.org/project/pycaret/</a:t>
            </a:r>
            <a:endParaRPr lang="en-US" sz="1300" dirty="0"/>
          </a:p>
          <a:p>
            <a:pPr indent="0" marL="0">
              <a:spcAft>
                <a:spcPts val="600"/>
              </a:spcAft>
              <a:buNone/>
            </a:pPr>
            <a:r>
              <a:rPr lang="en-US" sz="1300" dirty="0">
                <a:solidFill>
                  <a:schemeClr val="tx1"/>
                </a:solidFill>
              </a:rPr>
              <a:t>Erickson, N., Mueller, J., Shirkov, A., Zhang, H., Larroy, P., Li, M., y Smola, A. (2020). AutoGluon-Tabular: Robust and accurate AutoML for structured data. arXiv. https://doi.org/10.48550/arXiv.2003.06505</a:t>
            </a:r>
            <a:endParaRPr lang="en-US" sz="1300" dirty="0"/>
          </a:p>
          <a:p>
            <a:pPr indent="0" marL="0">
              <a:spcAft>
                <a:spcPts val="600"/>
              </a:spcAft>
              <a:buNone/>
            </a:pPr>
            <a:r>
              <a:rPr lang="en-US" sz="1300" dirty="0">
                <a:solidFill>
                  <a:schemeClr val="tx1"/>
                </a:solidFill>
              </a:rPr>
              <a:t>Feurer, M., Klein, A., Eggensperger, K., Springenberg, J., Blum, M., y Hutter, F. (2015). Efficient and robust automated machine learning. Advances in Neural Information Processing Systems, 28.</a:t>
            </a:r>
            <a:endParaRPr lang="en-US" sz="1300" dirty="0"/>
          </a:p>
          <a:p>
            <a:pPr indent="0" marL="0">
              <a:spcAft>
                <a:spcPts val="600"/>
              </a:spcAft>
              <a:buNone/>
            </a:pPr>
            <a:r>
              <a:rPr lang="en-US" sz="1300" dirty="0">
                <a:solidFill>
                  <a:schemeClr val="tx1"/>
                </a:solidFill>
              </a:rPr>
              <a:t>Gul, S., Ayturan, K., y Hardalaç, F. (2024). PyCaret for predicting type 2 diabetes: A phenotype- and gender-based approach with the “Nurses’ Health Study” and the “Health Professionals’ Follow-Up Study” datasets. Journal of Personalized Medicine, 14(8), 804. https://doi.org/10.3390/jpm14080804</a:t>
            </a:r>
            <a:endParaRPr lang="en-US" sz="1300" dirty="0"/>
          </a:p>
          <a:p>
            <a:pPr indent="0" marL="0">
              <a:spcAft>
                <a:spcPts val="600"/>
              </a:spcAft>
              <a:buNone/>
            </a:pPr>
            <a:r>
              <a:rPr lang="en-US" sz="1300" dirty="0">
                <a:solidFill>
                  <a:schemeClr val="tx1"/>
                </a:solidFill>
              </a:rPr>
              <a:t>IBM. (s. f.). Telco customer churn [Conjunto de datos]. Kaggle. https://www.kaggle.com/datasets/blastchar/telco-customer-churn</a:t>
            </a:r>
            <a:endParaRPr lang="en-US" sz="1300" dirty="0"/>
          </a:p>
          <a:p>
            <a:pPr indent="0" marL="0">
              <a:spcAft>
                <a:spcPts val="600"/>
              </a:spcAft>
              <a:buNone/>
            </a:pPr>
            <a:r>
              <a:rPr lang="en-US" sz="1300" dirty="0">
                <a:solidFill>
                  <a:schemeClr val="tx1"/>
                </a:solidFill>
              </a:rPr>
              <a:t>LeDell, E., y Poirier, S. (2020). H2O AutoML: Scalable automatic machine learning. 7th ICML Workshop on Automated Machine Learning. https://docs.h2o.ai/h2o/latest-stable/h2o-docs/automl.html</a:t>
            </a:r>
            <a:endParaRPr lang="en-US" sz="1300" dirty="0"/>
          </a:p>
          <a:p>
            <a:pPr indent="0" marL="0">
              <a:spcAft>
                <a:spcPts val="600"/>
              </a:spcAft>
              <a:buNone/>
            </a:pPr>
            <a:r>
              <a:rPr lang="en-US" sz="1300" dirty="0">
                <a:solidFill>
                  <a:schemeClr val="tx1"/>
                </a:solidFill>
              </a:rPr>
              <a:t>Olson, R. S., Bartley, N., Urbanowicz, R. J., y Moore, J. H. (2016). Evaluation of a tree-based pipeline optimization tool for automating data science. Proceedings of GECCO ’16, 485–492. https://doi.org/10.48550/arXiv.1603.06212</a:t>
            </a:r>
            <a:endParaRPr lang="en-US" sz="1300" dirty="0"/>
          </a:p>
          <a:p>
            <a:pPr indent="0" marL="0">
              <a:spcAft>
                <a:spcPts val="600"/>
              </a:spcAft>
              <a:buNone/>
            </a:pPr>
            <a:r>
              <a:rPr lang="en-US" sz="1300" dirty="0">
                <a:solidFill>
                  <a:schemeClr val="tx1"/>
                </a:solidFill>
              </a:rPr>
              <a:t>Pedregosa, F., y colaboradores. (2011). Scikit-learn: Machine learning in Python. Journal of Machine Learning Research, 12, 2825–2830.</a:t>
            </a:r>
            <a:endParaRPr lang="en-US" sz="1300" dirty="0"/>
          </a:p>
          <a:p>
            <a:pPr indent="0" marL="0">
              <a:spcAft>
                <a:spcPts val="600"/>
              </a:spcAft>
              <a:buNone/>
            </a:pPr>
            <a:r>
              <a:rPr lang="en-US" sz="1300" dirty="0">
                <a:solidFill>
                  <a:schemeClr val="tx1"/>
                </a:solidFill>
              </a:rPr>
              <a:t>PyCaret developers. (2026). PyCaret 4.0: Documentation, installation and FAQs. https://pycaret.org/docs/getting-started/installation/</a:t>
            </a:r>
            <a:endParaRPr lang="en-US" sz="1300" dirty="0"/>
          </a:p>
          <a:p>
            <a:pPr indent="0" marL="0">
              <a:spcAft>
                <a:spcPts val="600"/>
              </a:spcAft>
              <a:buNone/>
            </a:pPr>
            <a:r>
              <a:rPr lang="en-US" sz="1300" dirty="0">
                <a:solidFill>
                  <a:schemeClr val="tx1"/>
                </a:solidFill>
              </a:rPr>
              <a:t>PyCaret developers. (2026). pycaret/pycaret [Repositorio de software]. GitHub. https://github.com/pycaret/pycaret</a:t>
            </a:r>
            <a:endParaRPr lang="en-US" sz="13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PyCaret Churn">
  <a:themeElements>
    <a:clrScheme name="PyCaret Churn">
      <a:dk1>
        <a:srgbClr val="1F2937"/>
      </a:dk1>
      <a:lt1>
        <a:srgbClr val="FFFFFF"/>
      </a:lt1>
      <a:dk2>
        <a:srgbClr val="1F2A44"/>
      </a:dk2>
      <a:lt2>
        <a:srgbClr val="EEF2F8"/>
      </a:lt2>
      <a:accent1>
        <a:srgbClr val="4C72B0"/>
      </a:accent1>
      <a:accent2>
        <a:srgbClr val="C44E52"/>
      </a:accent2>
      <a:accent3>
        <a:srgbClr val="2F8F83"/>
      </a:accent3>
      <a:accent4>
        <a:srgbClr val="D9A441"/>
      </a:accent4>
      <a:accent5>
        <a:srgbClr val="5B6783"/>
      </a:accent5>
      <a:accent6>
        <a:srgbClr val="9DB4D8"/>
      </a:accent6>
      <a:hlink>
        <a:srgbClr val="4C72B0"/>
      </a:hlink>
      <a:folHlink>
        <a:srgbClr val="5B6783"/>
      </a:folHlink>
    </a:clrScheme>
    <a:fontScheme name="PyCaret Chur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PyCaret (AutoML): Telco Churn</dc:title>
  <dc:subject>PptxGenJS Presentation</dc:subject>
  <dc:creator>Bryam Astudillo, Marcos Naranjo, Daniel Salcedo</dc:creator>
  <cp:lastModifiedBy>Bryam Astudillo, Marcos Naranjo, Daniel Salcedo</cp:lastModifiedBy>
  <cp:revision>1</cp:revision>
  <dcterms:created xsi:type="dcterms:W3CDTF">2026-10-17T21:13:42Z</dcterms:created>
  <dcterms:modified xsi:type="dcterms:W3CDTF">2026-10-17T21:13:42Z</dcterms:modified>
</cp:coreProperties>
</file>